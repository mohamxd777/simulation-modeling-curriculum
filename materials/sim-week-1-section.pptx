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61" r:id="rId5"/>
    <p:sldId id="262" r:id="rId6"/>
    <p:sldId id="263" r:id="rId7"/>
    <p:sldId id="258" r:id="rId8"/>
    <p:sldId id="259" r:id="rId9"/>
    <p:sldId id="260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69008"/>
  </p:normalViewPr>
  <p:slideViewPr>
    <p:cSldViewPr snapToGrid="0">
      <p:cViewPr varScale="1">
        <p:scale>
          <a:sx n="85" d="100"/>
          <a:sy n="85" d="100"/>
        </p:scale>
        <p:origin x="1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C4FD-D0FA-4D41-B924-03543EC14ACF}" type="datetimeFigureOut">
              <a:rPr lang="en-EG" smtClean="0"/>
              <a:t>09/02/2026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6D55C-F5AF-4B48-812E-97092B668BE5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542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75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3832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EG" dirty="0"/>
              <a:t>imulation</a:t>
            </a:r>
          </a:p>
          <a:p>
            <a:r>
              <a:rPr lang="en-US" dirty="0"/>
              <a:t>H</a:t>
            </a:r>
            <a:r>
              <a:rPr lang="en-EG" dirty="0"/>
              <a:t>igh computational power</a:t>
            </a:r>
          </a:p>
          <a:p>
            <a:r>
              <a:rPr lang="en-US" dirty="0"/>
              <a:t>M</a:t>
            </a:r>
            <a:r>
              <a:rPr lang="en-EG" dirty="0"/>
              <a:t>any many trials</a:t>
            </a:r>
          </a:p>
          <a:p>
            <a:r>
              <a:rPr lang="en-US" dirty="0"/>
              <a:t>Lead to L</a:t>
            </a:r>
            <a:r>
              <a:rPr lang="en-EG" dirty="0"/>
              <a:t>ess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4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82311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steps for this kind of questions</a:t>
            </a:r>
          </a:p>
          <a:p>
            <a:r>
              <a:rPr lang="en-US" dirty="0"/>
              <a:t>T</a:t>
            </a:r>
            <a:r>
              <a:rPr lang="en-EG" dirty="0"/>
              <a:t>heo.prob.</a:t>
            </a:r>
          </a:p>
          <a:p>
            <a:r>
              <a:rPr lang="en-US" dirty="0"/>
              <a:t>A</a:t>
            </a:r>
            <a:r>
              <a:rPr lang="en-EG" dirty="0"/>
              <a:t>llocation</a:t>
            </a:r>
          </a:p>
          <a:p>
            <a:r>
              <a:rPr lang="en-EG" dirty="0"/>
              <a:t>R.O</a:t>
            </a:r>
          </a:p>
          <a:p>
            <a:r>
              <a:rPr lang="en-EG" dirty="0"/>
              <a:t>SIM. PROB.</a:t>
            </a:r>
          </a:p>
          <a:p>
            <a:r>
              <a:rPr lang="en-EG" dirty="0"/>
              <a:t>error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10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54141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EG" dirty="0"/>
              <a:t>f theoritical probability is zero</a:t>
            </a:r>
          </a:p>
          <a:p>
            <a:r>
              <a:rPr lang="en-US" dirty="0"/>
              <a:t>C</a:t>
            </a:r>
            <a:r>
              <a:rPr lang="en-EG" dirty="0"/>
              <a:t>alculate absolute error</a:t>
            </a:r>
          </a:p>
          <a:p>
            <a:r>
              <a:rPr lang="en-EG" dirty="0"/>
              <a:t>|theo. - sim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12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6141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biased to be:</a:t>
            </a:r>
            <a:br>
              <a:rPr lang="en-US" dirty="0"/>
            </a:br>
            <a:r>
              <a:rPr lang="en-US" dirty="0"/>
              <a:t>I</a:t>
            </a:r>
            <a:r>
              <a:rPr lang="en-EG" dirty="0"/>
              <a:t>f given p(H)</a:t>
            </a:r>
          </a:p>
          <a:p>
            <a:r>
              <a:rPr lang="en-US" dirty="0"/>
              <a:t>P</a:t>
            </a:r>
            <a:r>
              <a:rPr lang="en-EG" dirty="0"/>
              <a:t>(T)=1-p(H)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13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19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15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95730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6D55C-F5AF-4B48-812E-97092B668BE5}" type="slidenum">
              <a:rPr lang="en-EG" smtClean="0"/>
              <a:t>16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453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EG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E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EG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E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ireframe of a grid with blue and purple dots&#10;&#10;AI-generated content may be incorrect.">
            <a:extLst>
              <a:ext uri="{FF2B5EF4-FFF2-40B4-BE49-F238E27FC236}">
                <a16:creationId xmlns:a16="http://schemas.microsoft.com/office/drawing/2014/main" id="{F7365BB2-3B8B-F5E2-01DB-68A3C0DB4D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29434" r="-1" b="12859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3BA2C4-32CE-EEB1-DE9B-F5C8BF80F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EG" sz="6600" dirty="0">
                <a:solidFill>
                  <a:schemeClr val="tx1"/>
                </a:solidFill>
              </a:rPr>
              <a:t>System modeling&amp;simulation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C0452-22FB-530B-5495-6D78382A7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en-EG" sz="2000" dirty="0">
                <a:solidFill>
                  <a:schemeClr val="tx1"/>
                </a:solidFill>
              </a:rPr>
              <a:t>repared by: </a:t>
            </a:r>
          </a:p>
          <a:p>
            <a:r>
              <a:rPr lang="en-EG" sz="2000" dirty="0">
                <a:solidFill>
                  <a:schemeClr val="tx1"/>
                </a:solidFill>
              </a:rPr>
              <a:t>Eng. Hossam Badran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438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5984-BEA2-489E-AAFA-DF408FE9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Grading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D89D9-1E13-8CF9-20C5-CEACEB884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4th week – lecture (10 marks)</a:t>
            </a:r>
          </a:p>
          <a:p>
            <a:r>
              <a:rPr lang="en-EG" dirty="0"/>
              <a:t>7th week – lecture (15 marks)</a:t>
            </a:r>
          </a:p>
          <a:p>
            <a:r>
              <a:rPr lang="en-EG" dirty="0"/>
              <a:t>7th week – section (5 marks)</a:t>
            </a:r>
          </a:p>
          <a:p>
            <a:r>
              <a:rPr lang="en-US" dirty="0"/>
              <a:t>A</a:t>
            </a:r>
            <a:r>
              <a:rPr lang="en-EG" dirty="0"/>
              <a:t>ssignments – section (5 marks)</a:t>
            </a:r>
          </a:p>
        </p:txBody>
      </p:sp>
    </p:spTree>
    <p:extLst>
      <p:ext uri="{BB962C8B-B14F-4D97-AF65-F5344CB8AC3E}">
        <p14:creationId xmlns:p14="http://schemas.microsoft.com/office/powerpoint/2010/main" val="195489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7FCA-8B1F-D46D-9ACE-07CDDE8B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What is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A20E-5C7B-19DD-2FFB-8AF9672EF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is a problem-solving technique that builds a model of a real system and uses experiments on that model to understand system behavior and predict future performance safely, without risking the real system.</a:t>
            </a:r>
          </a:p>
        </p:txBody>
      </p:sp>
    </p:spTree>
    <p:extLst>
      <p:ext uri="{BB962C8B-B14F-4D97-AF65-F5344CB8AC3E}">
        <p14:creationId xmlns:p14="http://schemas.microsoft.com/office/powerpoint/2010/main" val="13959843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83C6-D250-974B-9EEC-D1BA3A03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Why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04EC-3D34-E003-7417-5B036B2EC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is a powerful </a:t>
            </a:r>
            <a:r>
              <a:rPr lang="en-US" i="1" dirty="0"/>
              <a:t>problem-solving</a:t>
            </a:r>
            <a:r>
              <a:rPr lang="en-US" dirty="0"/>
              <a:t> and analysis technique especially when:</a:t>
            </a:r>
          </a:p>
          <a:p>
            <a:r>
              <a:rPr lang="en-US" dirty="0"/>
              <a:t>1. </a:t>
            </a:r>
            <a:r>
              <a:rPr lang="en-US" b="1" dirty="0"/>
              <a:t>Real experimentation is impractical or impossible</a:t>
            </a:r>
          </a:p>
          <a:p>
            <a:r>
              <a:rPr lang="en-US" dirty="0"/>
              <a:t>Some systems are too expensive, risky, dangerous, slow, or complex to test with real prototypes. Simulation lets you experiment </a:t>
            </a:r>
            <a:r>
              <a:rPr lang="en-US" i="1" dirty="0"/>
              <a:t>virtually</a:t>
            </a:r>
            <a:r>
              <a:rPr lang="en-US" dirty="0"/>
              <a:t> instead.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aircraft in dangerous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nuclear processes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55373763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6D25-D327-CDA9-C841-71CE7D83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Why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BA979-1C8E-E1F9-BD6A-C943E7BD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There’s uncertainty or randomness</a:t>
            </a:r>
          </a:p>
          <a:p>
            <a:r>
              <a:rPr lang="en-US" dirty="0"/>
              <a:t>When a system involves </a:t>
            </a:r>
            <a:r>
              <a:rPr lang="en-US" i="1" dirty="0"/>
              <a:t>random variables</a:t>
            </a:r>
            <a:r>
              <a:rPr lang="en-US" dirty="0"/>
              <a:t> or complex interactions (like traffic flow, weather patterns, or human behavior), classical mathematics may not work. Simulation can still produce useful approximate insights. </a:t>
            </a:r>
          </a:p>
          <a:p>
            <a:endParaRPr lang="en-US" dirty="0"/>
          </a:p>
          <a:p>
            <a:r>
              <a:rPr lang="en-US" b="1" dirty="0"/>
              <a:t>3. We want control over time</a:t>
            </a:r>
          </a:p>
          <a:p>
            <a:r>
              <a:rPr lang="en-US" dirty="0"/>
              <a:t>Simulations can compress or expand time. For example, months of aircraft operation can be simulated in minutes, enabling rapid analysis.</a:t>
            </a:r>
          </a:p>
          <a:p>
            <a:endParaRPr lang="en-US" dirty="0"/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85266810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4FA8-05E3-0CE5-387F-1E682505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Why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D95EC-A82F-BC62-B18C-8D2892E1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Safe “what-if” analysis</a:t>
            </a:r>
          </a:p>
          <a:p>
            <a:r>
              <a:rPr lang="en-US" dirty="0"/>
              <a:t>Simulation lets you test multiple scenarios to see the effects of changes (e.g., adjusting parameters like speed, load, rules) without any real-world risk. 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41472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39BF-276B-2547-CD61-87D5086A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Example: </a:t>
            </a:r>
            <a:r>
              <a:rPr lang="en-US" b="1" dirty="0"/>
              <a:t>Crash Simulation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FB197-F73B-285C-666B-F63552D6C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Problem:</a:t>
            </a:r>
          </a:p>
          <a:p>
            <a:r>
              <a:rPr lang="en-US" dirty="0"/>
              <a:t>Testing how a vehicle performs in a crash traditionally involved building </a:t>
            </a:r>
            <a:r>
              <a:rPr lang="en-US" i="1" dirty="0"/>
              <a:t>multiple physical prototypes</a:t>
            </a:r>
            <a:r>
              <a:rPr lang="en-US" dirty="0"/>
              <a:t> and crashing them with dummies. This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expensive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time-consuming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destructive to the prototype.</a:t>
            </a:r>
          </a:p>
          <a:p>
            <a:r>
              <a:rPr lang="en-US" dirty="0"/>
              <a:t>Moreover, real crash tests can only explore a limited set of scenarios and conditions.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25197082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6B0B-AA40-1A58-B685-BC512821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 Solution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24786-66D5-039E-9FCC-18C04503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automotive engineers use </a:t>
            </a:r>
            <a:r>
              <a:rPr lang="en-US" b="1" dirty="0"/>
              <a:t>computer-based crash simulation software</a:t>
            </a:r>
            <a:r>
              <a:rPr lang="en-US" dirty="0"/>
              <a:t> (e.g., tools like PAM-CRASH) to model the physics of a car and occupants under collision conditions. The software:</a:t>
            </a:r>
          </a:p>
          <a:p>
            <a:r>
              <a:rPr lang="en-US" dirty="0"/>
              <a:t>uses a </a:t>
            </a:r>
            <a:r>
              <a:rPr lang="en-US" i="1" dirty="0"/>
              <a:t>virtual model of the car</a:t>
            </a:r>
            <a:r>
              <a:rPr lang="en-US" dirty="0"/>
              <a:t> with all relevant physics (materials, structures, joints),</a:t>
            </a:r>
          </a:p>
          <a:p>
            <a:r>
              <a:rPr lang="en-US" dirty="0"/>
              <a:t>runs numerous simulated crash scenarios,</a:t>
            </a:r>
          </a:p>
          <a:p>
            <a:r>
              <a:rPr lang="en-US" dirty="0"/>
              <a:t>measures predicted forces, deformation, and injury outcomes, and</a:t>
            </a:r>
          </a:p>
          <a:p>
            <a:r>
              <a:rPr lang="en-US" dirty="0"/>
              <a:t>allows engineers to </a:t>
            </a:r>
            <a:r>
              <a:rPr lang="en-US" i="1" dirty="0"/>
              <a:t>change design</a:t>
            </a:r>
            <a:r>
              <a:rPr lang="en-US" dirty="0"/>
              <a:t> parameters and rerun simulations quickly.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060171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70C6-F13A-48D0-5971-6A838875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Helps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E896-ED0A-4AF7-14BF-FD7E71256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Before building any physical prototypes</a:t>
            </a:r>
            <a:r>
              <a:rPr lang="en-US" dirty="0"/>
              <a:t>, simulation enables engineers to:</a:t>
            </a:r>
          </a:p>
          <a:p>
            <a:pPr marL="0" indent="0">
              <a:buNone/>
            </a:pPr>
            <a:r>
              <a:rPr lang="en-US" dirty="0"/>
              <a:t>-evaluate dozens or hundreds of crash scenarios</a:t>
            </a:r>
            <a:br>
              <a:rPr lang="en-US" dirty="0"/>
            </a:br>
            <a:r>
              <a:rPr lang="en-US" dirty="0"/>
              <a:t>-spot weak points in design</a:t>
            </a:r>
            <a:br>
              <a:rPr lang="en-US" dirty="0"/>
            </a:br>
            <a:r>
              <a:rPr lang="en-US" dirty="0"/>
              <a:t>-improve structural safety features (e.g., crumple zones)</a:t>
            </a:r>
            <a:br>
              <a:rPr lang="en-US" dirty="0"/>
            </a:br>
            <a:r>
              <a:rPr lang="en-US" dirty="0"/>
              <a:t>-reduce development costs</a:t>
            </a:r>
            <a:br>
              <a:rPr lang="en-US" dirty="0"/>
            </a:br>
            <a:r>
              <a:rPr lang="en-US" dirty="0"/>
              <a:t>-shorten the design cycle</a:t>
            </a:r>
            <a:br>
              <a:rPr lang="en-US" dirty="0"/>
            </a:br>
            <a:r>
              <a:rPr lang="en-US" dirty="0"/>
              <a:t>-enhance occupant protection and meet safety standards without as many real crashes. </a:t>
            </a:r>
          </a:p>
          <a:p>
            <a:r>
              <a:rPr lang="en-US" dirty="0"/>
              <a:t>This method has been widely adopted in the automotive industry globally and is now a key part of safety certification and design optimization.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50998936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8095-42F2-150E-E555-1FEC7679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EG" dirty="0"/>
              <a:t>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E0FD0-11E2-8034-C652-9DED1BF5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EG" dirty="0"/>
              <a:t>se the one-digit random number (6,3,5,0,8) to generate Random observations for:</a:t>
            </a:r>
          </a:p>
          <a:p>
            <a:r>
              <a:rPr lang="en-EG" dirty="0"/>
              <a:t>1-Throwing a fair coin</a:t>
            </a:r>
          </a:p>
          <a:p>
            <a:r>
              <a:rPr lang="en-EG" dirty="0"/>
              <a:t>2-Throwing a biased coin to head by 20%</a:t>
            </a:r>
          </a:p>
        </p:txBody>
      </p:sp>
    </p:spTree>
    <p:extLst>
      <p:ext uri="{BB962C8B-B14F-4D97-AF65-F5344CB8AC3E}">
        <p14:creationId xmlns:p14="http://schemas.microsoft.com/office/powerpoint/2010/main" val="79625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4C8F-6168-0BEF-EF27-42474342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EG" dirty="0"/>
              <a:t>olution-1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D00D-E3A3-646E-F7BB-F339DD5D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315968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EG" dirty="0"/>
              <a:t>ne digit RN 0</a:t>
            </a:r>
            <a:r>
              <a:rPr lang="en-EG" dirty="0">
                <a:sym typeface="Wingdings" pitchFamily="2" charset="2"/>
              </a:rPr>
              <a:t>9 (10 numbers)</a:t>
            </a:r>
          </a:p>
          <a:p>
            <a:r>
              <a:rPr lang="en-EG" dirty="0">
                <a:sym typeface="Wingdings" pitchFamily="2" charset="2"/>
              </a:rPr>
              <a:t>S={H,T}</a:t>
            </a:r>
          </a:p>
          <a:p>
            <a:r>
              <a:rPr lang="en-US" dirty="0">
                <a:sym typeface="Wingdings" pitchFamily="2" charset="2"/>
              </a:rPr>
              <a:t>S</a:t>
            </a:r>
            <a:r>
              <a:rPr lang="en-EG" dirty="0">
                <a:sym typeface="Wingdings" pitchFamily="2" charset="2"/>
              </a:rPr>
              <a:t>ince coin is fair</a:t>
            </a:r>
          </a:p>
          <a:p>
            <a:r>
              <a:rPr lang="en-US" dirty="0">
                <a:sym typeface="Wingdings" pitchFamily="2" charset="2"/>
              </a:rPr>
              <a:t>T</a:t>
            </a:r>
            <a:r>
              <a:rPr lang="en-EG" dirty="0">
                <a:sym typeface="Wingdings" pitchFamily="2" charset="2"/>
              </a:rPr>
              <a:t>herefore 		Allocation</a:t>
            </a:r>
          </a:p>
          <a:p>
            <a:r>
              <a:rPr lang="en-EG" dirty="0">
                <a:sym typeface="Wingdings" pitchFamily="2" charset="2"/>
              </a:rPr>
              <a:t>P(H)=0.5		0,1,2,3,4</a:t>
            </a:r>
          </a:p>
          <a:p>
            <a:r>
              <a:rPr lang="en-EG" dirty="0">
                <a:sym typeface="Wingdings" pitchFamily="2" charset="2"/>
              </a:rPr>
              <a:t>P(T)=0.5		5,6,7,8,9</a:t>
            </a:r>
          </a:p>
          <a:p>
            <a:r>
              <a:rPr lang="en-US" dirty="0">
                <a:sym typeface="Wingdings" pitchFamily="2" charset="2"/>
              </a:rPr>
              <a:t>N</a:t>
            </a:r>
            <a:r>
              <a:rPr lang="en-EG" dirty="0">
                <a:sym typeface="Wingdings" pitchFamily="2" charset="2"/>
              </a:rPr>
              <a:t>o.of trials=no.of random numbers=5</a:t>
            </a:r>
          </a:p>
          <a:p>
            <a:r>
              <a:rPr lang="en-EG" dirty="0">
                <a:sym typeface="Wingdings" pitchFamily="2" charset="2"/>
              </a:rPr>
              <a:t>Then</a:t>
            </a:r>
          </a:p>
          <a:p>
            <a:r>
              <a:rPr lang="en-EG" dirty="0">
                <a:sym typeface="Wingdings" pitchFamily="2" charset="2"/>
              </a:rPr>
              <a:t>(6,3,5,0,8)---R.O---&gt;(T,H,T,H,T)</a:t>
            </a:r>
          </a:p>
          <a:p>
            <a:endParaRPr lang="en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AEA76-4AA6-9AE5-6447-F915B8733D2B}"/>
              </a:ext>
            </a:extLst>
          </p:cNvPr>
          <p:cNvSpPr txBox="1"/>
          <p:nvPr/>
        </p:nvSpPr>
        <p:spPr>
          <a:xfrm>
            <a:off x="477078" y="4126838"/>
            <a:ext cx="672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Theo.</a:t>
            </a:r>
          </a:p>
          <a:p>
            <a:r>
              <a:rPr lang="en-US" dirty="0"/>
              <a:t>P</a:t>
            </a:r>
            <a:r>
              <a:rPr lang="en-EG" dirty="0"/>
              <a:t>rob.</a:t>
            </a:r>
          </a:p>
        </p:txBody>
      </p:sp>
    </p:spTree>
    <p:extLst>
      <p:ext uri="{BB962C8B-B14F-4D97-AF65-F5344CB8AC3E}">
        <p14:creationId xmlns:p14="http://schemas.microsoft.com/office/powerpoint/2010/main" val="84336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EE94-4A71-4900-A6F9-87E3071B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EG" dirty="0"/>
              <a:t>olution-1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E3D52-AE14-5B89-5F60-F63BF4B51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Simulated prob. </a:t>
            </a:r>
            <a:r>
              <a:rPr lang="en-US" dirty="0"/>
              <a:t>of H=no. of repeating of H/no. of trials=2/5=0.4</a:t>
            </a:r>
          </a:p>
          <a:p>
            <a:r>
              <a:rPr lang="en-EG" dirty="0"/>
              <a:t>Simulated prob. </a:t>
            </a:r>
            <a:r>
              <a:rPr lang="en-US" dirty="0"/>
              <a:t>of T=no. of repeating of T/no. of trials=3/5=0.6</a:t>
            </a:r>
          </a:p>
          <a:p>
            <a:r>
              <a:rPr lang="en-US" dirty="0"/>
              <a:t>Relative Error=</a:t>
            </a:r>
          </a:p>
          <a:p>
            <a:endParaRPr lang="en-US" dirty="0"/>
          </a:p>
          <a:p>
            <a:r>
              <a:rPr lang="en-US" dirty="0"/>
              <a:t>E(H)=</a:t>
            </a:r>
          </a:p>
          <a:p>
            <a:endParaRPr lang="en-US" dirty="0"/>
          </a:p>
          <a:p>
            <a:r>
              <a:rPr lang="en-US" dirty="0"/>
              <a:t>E(T)=</a:t>
            </a:r>
          </a:p>
          <a:p>
            <a:endParaRPr lang="en-E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1E4DD-8DA9-13EA-9A7B-74644B8D602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98481" y="3160776"/>
            <a:ext cx="2696464" cy="5364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3B89E4-DB16-1005-DB0C-D33059A461BB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49969" y="4095651"/>
            <a:ext cx="2097024" cy="554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02A10-3CC8-1C8A-F48B-BD9940C38349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49969" y="5048814"/>
            <a:ext cx="2097024" cy="554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F06B92-8166-7A56-1ACF-E29E345DA45C}"/>
              </a:ext>
            </a:extLst>
          </p:cNvPr>
          <p:cNvSpPr txBox="1"/>
          <p:nvPr/>
        </p:nvSpPr>
        <p:spPr>
          <a:xfrm>
            <a:off x="4760202" y="4297680"/>
            <a:ext cx="6909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Meaning of 20%</a:t>
            </a:r>
            <a:br>
              <a:rPr lang="en-EG" dirty="0"/>
            </a:br>
            <a:r>
              <a:rPr lang="en-EG" dirty="0"/>
              <a:t>probability increased or decreased by 20% of the theoritical probability</a:t>
            </a:r>
          </a:p>
          <a:p>
            <a:r>
              <a:rPr lang="en-EG" dirty="0"/>
              <a:t>(simulated probability is smaller or larger than theoritical prob. </a:t>
            </a:r>
            <a:r>
              <a:rPr lang="en-US" dirty="0"/>
              <a:t>B</a:t>
            </a:r>
            <a:r>
              <a:rPr lang="en-EG" dirty="0"/>
              <a:t>y 20%)</a:t>
            </a:r>
          </a:p>
        </p:txBody>
      </p:sp>
    </p:spTree>
    <p:extLst>
      <p:ext uri="{BB962C8B-B14F-4D97-AF65-F5344CB8AC3E}">
        <p14:creationId xmlns:p14="http://schemas.microsoft.com/office/powerpoint/2010/main" val="18431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D619-C56F-E634-1F79-1190D0A3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EG" dirty="0"/>
              <a:t>olution-2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F4BD-4148-192B-6C7B-640FB85F7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</a:t>
            </a:r>
            <a:r>
              <a:rPr lang="en-EG" dirty="0"/>
              <a:t>ne digit RN 0</a:t>
            </a:r>
            <a:r>
              <a:rPr lang="en-EG" dirty="0">
                <a:sym typeface="Wingdings" pitchFamily="2" charset="2"/>
              </a:rPr>
              <a:t>9 (10 numbers)</a:t>
            </a:r>
          </a:p>
          <a:p>
            <a:r>
              <a:rPr lang="en-EG" dirty="0">
                <a:sym typeface="Wingdings" pitchFamily="2" charset="2"/>
              </a:rPr>
              <a:t>S={H,T}</a:t>
            </a:r>
          </a:p>
          <a:p>
            <a:r>
              <a:rPr lang="en-US" dirty="0">
                <a:sym typeface="Wingdings" pitchFamily="2" charset="2"/>
              </a:rPr>
              <a:t>S</a:t>
            </a:r>
            <a:r>
              <a:rPr lang="en-EG" dirty="0">
                <a:sym typeface="Wingdings" pitchFamily="2" charset="2"/>
              </a:rPr>
              <a:t>ince coin is unfair</a:t>
            </a:r>
          </a:p>
          <a:p>
            <a:r>
              <a:rPr lang="en-US" dirty="0">
                <a:sym typeface="Wingdings" pitchFamily="2" charset="2"/>
              </a:rPr>
              <a:t>T</a:t>
            </a:r>
            <a:r>
              <a:rPr lang="en-EG" dirty="0">
                <a:sym typeface="Wingdings" pitchFamily="2" charset="2"/>
              </a:rPr>
              <a:t>herefore 		Allocation</a:t>
            </a:r>
          </a:p>
          <a:p>
            <a:r>
              <a:rPr lang="en-EG" dirty="0">
                <a:sym typeface="Wingdings" pitchFamily="2" charset="2"/>
              </a:rPr>
              <a:t>P(H)=0.7		0,1,2,3,4,5,6</a:t>
            </a:r>
          </a:p>
          <a:p>
            <a:r>
              <a:rPr lang="en-EG" dirty="0">
                <a:sym typeface="Wingdings" pitchFamily="2" charset="2"/>
              </a:rPr>
              <a:t>P(T)=0.3		7,8,9</a:t>
            </a:r>
          </a:p>
          <a:p>
            <a:r>
              <a:rPr lang="en-US" dirty="0">
                <a:sym typeface="Wingdings" pitchFamily="2" charset="2"/>
              </a:rPr>
              <a:t>N</a:t>
            </a:r>
            <a:r>
              <a:rPr lang="en-EG" dirty="0">
                <a:sym typeface="Wingdings" pitchFamily="2" charset="2"/>
              </a:rPr>
              <a:t>o.of trials=no.of random numbers=5</a:t>
            </a:r>
          </a:p>
          <a:p>
            <a:r>
              <a:rPr lang="en-EG" dirty="0">
                <a:sym typeface="Wingdings" pitchFamily="2" charset="2"/>
              </a:rPr>
              <a:t>Then</a:t>
            </a:r>
          </a:p>
          <a:p>
            <a:r>
              <a:rPr lang="en-EG" dirty="0">
                <a:sym typeface="Wingdings" pitchFamily="2" charset="2"/>
              </a:rPr>
              <a:t>(6,3,5,0,8)---R.O---&gt;(H,H,H,H,T)</a:t>
            </a:r>
          </a:p>
          <a:p>
            <a:endParaRPr lang="en-EG" dirty="0"/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4132884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D9EA-C1A0-6B72-2437-7C77807A5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EG" dirty="0"/>
              <a:t>olution-2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9A48-B6D1-9671-8448-A7C968314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Simulated prob. </a:t>
            </a:r>
            <a:r>
              <a:rPr lang="en-US" dirty="0"/>
              <a:t>of H=no. of repeating of H/no. of trials=4/5=0.8</a:t>
            </a:r>
          </a:p>
          <a:p>
            <a:r>
              <a:rPr lang="en-EG" dirty="0"/>
              <a:t>Simulated prob. </a:t>
            </a:r>
            <a:r>
              <a:rPr lang="en-US" dirty="0"/>
              <a:t>of T=no. of repeating of T/no. of trials=1/5=0.2</a:t>
            </a:r>
          </a:p>
          <a:p>
            <a:r>
              <a:rPr lang="en-US" dirty="0"/>
              <a:t>Relative Error=</a:t>
            </a:r>
          </a:p>
          <a:p>
            <a:endParaRPr lang="en-US" dirty="0"/>
          </a:p>
          <a:p>
            <a:r>
              <a:rPr lang="en-US" dirty="0"/>
              <a:t>E(H)=</a:t>
            </a:r>
          </a:p>
          <a:p>
            <a:endParaRPr lang="en-US" dirty="0"/>
          </a:p>
          <a:p>
            <a:r>
              <a:rPr lang="en-US" dirty="0"/>
              <a:t>E(T)=</a:t>
            </a:r>
          </a:p>
          <a:p>
            <a:endParaRPr lang="en-EG" dirty="0"/>
          </a:p>
          <a:p>
            <a:endParaRPr lang="en-E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E79D9-6D65-114A-2DC2-F02F2DC957C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98481" y="3160776"/>
            <a:ext cx="2696464" cy="536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C9D33-C1EC-2A8E-3472-57DFEA926F9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67241" y="4035552"/>
            <a:ext cx="2379472" cy="536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F88F93-CAE9-6CD5-1F9F-37FF7EFBBDF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67241" y="5076378"/>
            <a:ext cx="2379472" cy="53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53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82FB-3FA0-1D3C-D637-A38FDE9A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2480410"/>
            <a:ext cx="9720072" cy="1499616"/>
          </a:xfrm>
        </p:spPr>
        <p:txBody>
          <a:bodyPr/>
          <a:lstStyle/>
          <a:p>
            <a:r>
              <a:rPr lang="en-US" dirty="0"/>
              <a:t>L</a:t>
            </a:r>
            <a:r>
              <a:rPr lang="en-EG" dirty="0"/>
              <a:t>et’s try a Fair coin simulation program </a:t>
            </a:r>
          </a:p>
        </p:txBody>
      </p:sp>
    </p:spTree>
    <p:extLst>
      <p:ext uri="{BB962C8B-B14F-4D97-AF65-F5344CB8AC3E}">
        <p14:creationId xmlns:p14="http://schemas.microsoft.com/office/powerpoint/2010/main" val="796711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B7CF-9805-AAFD-861F-89F06A58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assignment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28B30F-7CF4-9347-70AF-7327F8A3C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383067"/>
              </p:ext>
            </p:extLst>
          </p:nvPr>
        </p:nvGraphicFramePr>
        <p:xfrm>
          <a:off x="1023940" y="2630557"/>
          <a:ext cx="97202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52">
                  <a:extLst>
                    <a:ext uri="{9D8B030D-6E8A-4147-A177-3AD203B41FA5}">
                      <a16:colId xmlns:a16="http://schemas.microsoft.com/office/drawing/2014/main" val="1256423061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1221881011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460059442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2477908749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3540778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N of 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P(H)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E(H)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P(T)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E(T)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04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8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81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290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004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2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71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51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EG" dirty="0"/>
                        <a:t>1000000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06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5D3591-F3AE-FAD1-E308-2E44A35126FC}"/>
              </a:ext>
            </a:extLst>
          </p:cNvPr>
          <p:cNvSpPr txBox="1"/>
          <p:nvPr/>
        </p:nvSpPr>
        <p:spPr>
          <a:xfrm>
            <a:off x="1166191" y="1855304"/>
            <a:ext cx="9276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EG" dirty="0"/>
              <a:t>rite a 	C or C++ program to simulate the following and write an observation</a:t>
            </a:r>
          </a:p>
        </p:txBody>
      </p:sp>
    </p:spTree>
    <p:extLst>
      <p:ext uri="{BB962C8B-B14F-4D97-AF65-F5344CB8AC3E}">
        <p14:creationId xmlns:p14="http://schemas.microsoft.com/office/powerpoint/2010/main" val="2668705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i&gt;t&lt;/mi&gt;&lt;mi&gt;h&lt;/mi&gt;&lt;mi&gt;e&lt;/mi&gt;&lt;mi&gt;o&lt;/mi&gt;&lt;mo&gt;.&lt;/mo&gt;&lt;mi&gt;p&lt;/mi&gt;&lt;mi&gt;r&lt;/mi&gt;&lt;mi&gt;o&lt;/mi&gt;&lt;mi&gt;b&lt;/mi&gt;&lt;mo&gt;.&lt;/mo&gt;&lt;mo&gt;-&lt;/mo&gt;&lt;mi&gt;s&lt;/mi&gt;&lt;mi&gt;i&lt;/mi&gt;&lt;mi&gt;m&lt;/mi&gt;&lt;mo&gt;.&lt;/mo&gt;&lt;mi&gt;p&lt;/mi&gt;&lt;mi&gt;r&lt;/mi&gt;&lt;mi&gt;o&lt;/mi&gt;&lt;mi&gt;b&lt;/mi&gt;&lt;mo&gt;.&lt;/mo&gt;&lt;/mrow&gt;&lt;mrow&gt;&lt;mi&gt;t&lt;/mi&gt;&lt;mi&gt;h&lt;/mi&gt;&lt;mi&gt;e&lt;/mi&gt;&lt;mi&gt;o&lt;/mi&gt;&lt;mo&gt;.&lt;/mo&gt;&lt;mi&gt;p&lt;/mi&gt;&lt;mi&gt;r&lt;/mi&gt;&lt;mi&gt;o&lt;/mi&gt;&lt;mi&gt;b&lt;/mi&gt;&lt;mo&gt;.&lt;/mo&gt;&lt;/mrow&gt;&lt;/mfrac&gt;&lt;/mfenced&gt;&lt;mo&gt;&amp;#xD7;&lt;/mo&gt;&lt;mn&gt;100&lt;/mn&gt;&lt;/math&gt;&quot;,&quot;origin&quot;:&quot;MathType Legacy&quot;,&quot;version&quot;:&quot;v3.21.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n&gt;0&lt;/mn&gt;&lt;mo&gt;.&lt;/mo&gt;&lt;mn&gt;5&lt;/mn&gt;&lt;mo&gt;-&lt;/mo&gt;&lt;mn&gt;0&lt;/mn&gt;&lt;mo&gt;.&lt;/mo&gt;&lt;mn&gt;4&lt;/mn&gt;&lt;/mrow&gt;&lt;mrow&gt;&lt;mn&gt;0&lt;/mn&gt;&lt;mo&gt;.&lt;/mo&gt;&lt;mn&gt;5&lt;/mn&gt;&lt;/mrow&gt;&lt;/mfrac&gt;&lt;/mfenced&gt;&lt;mo&gt;&amp;#xD7;&lt;/mo&gt;&lt;mn&gt;100&lt;/mn&gt;&lt;mo&gt;=&lt;/mo&gt;&lt;mn&gt;20&lt;/mn&gt;&lt;mo&gt;%&lt;/mo&gt;&lt;mspace linebreak=\&quot;newline\&quot;/&gt;&lt;mspace linebreak=\&quot;newline\&quot;/&gt;&lt;/math&gt;&quot;,&quot;origin&quot;:&quot;MathType Legacy&quot;,&quot;version&quot;:&quot;v3.21.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n&gt;0&lt;/mn&gt;&lt;mo&gt;.&lt;/mo&gt;&lt;mn&gt;5&lt;/mn&gt;&lt;mo&gt;-&lt;/mo&gt;&lt;mn&gt;0&lt;/mn&gt;&lt;mo&gt;.&lt;/mo&gt;&lt;mn&gt;6&lt;/mn&gt;&lt;/mrow&gt;&lt;mrow&gt;&lt;mn&gt;0&lt;/mn&gt;&lt;mo&gt;.&lt;/mo&gt;&lt;mn&gt;5&lt;/mn&gt;&lt;/mrow&gt;&lt;/mfrac&gt;&lt;/mfenced&gt;&lt;mo&gt;&amp;#xD7;&lt;/mo&gt;&lt;mn&gt;100&lt;/mn&gt;&lt;mo&gt;=&lt;/mo&gt;&lt;mn&gt;20&lt;/mn&gt;&lt;mo&gt;%&lt;/mo&gt;&lt;mspace linebreak=\&quot;newline\&quot;/&gt;&lt;mspace linebreak=\&quot;newline\&quot;/&gt;&lt;/math&gt;&quot;,&quot;origin&quot;:&quot;MathType Legacy&quot;,&quot;version&quot;:&quot;v3.21.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i&gt;t&lt;/mi&gt;&lt;mi&gt;h&lt;/mi&gt;&lt;mi&gt;e&lt;/mi&gt;&lt;mi&gt;o&lt;/mi&gt;&lt;mo&gt;.&lt;/mo&gt;&lt;mi&gt;p&lt;/mi&gt;&lt;mi&gt;r&lt;/mi&gt;&lt;mi&gt;o&lt;/mi&gt;&lt;mi&gt;b&lt;/mi&gt;&lt;mo&gt;.&lt;/mo&gt;&lt;mo&gt;-&lt;/mo&gt;&lt;mi&gt;s&lt;/mi&gt;&lt;mi&gt;i&lt;/mi&gt;&lt;mi&gt;m&lt;/mi&gt;&lt;mo&gt;.&lt;/mo&gt;&lt;mi&gt;p&lt;/mi&gt;&lt;mi&gt;r&lt;/mi&gt;&lt;mi&gt;o&lt;/mi&gt;&lt;mi&gt;b&lt;/mi&gt;&lt;mo&gt;.&lt;/mo&gt;&lt;/mrow&gt;&lt;mrow&gt;&lt;mi&gt;t&lt;/mi&gt;&lt;mi&gt;h&lt;/mi&gt;&lt;mi&gt;e&lt;/mi&gt;&lt;mi&gt;o&lt;/mi&gt;&lt;mo&gt;.&lt;/mo&gt;&lt;mi&gt;p&lt;/mi&gt;&lt;mi&gt;r&lt;/mi&gt;&lt;mi&gt;o&lt;/mi&gt;&lt;mi&gt;b&lt;/mi&gt;&lt;mo&gt;.&lt;/mo&gt;&lt;/mrow&gt;&lt;/mfrac&gt;&lt;/mfenced&gt;&lt;mo&gt;&amp;#xD7;&lt;/mo&gt;&lt;mn&gt;100&lt;/mn&gt;&lt;/math&gt;&quot;,&quot;origin&quot;:&quot;MathType Legacy&quot;,&quot;version&quot;:&quot;v3.21.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n&gt;0&lt;/mn&gt;&lt;mo&gt;.&lt;/mo&gt;&lt;mn&gt;7&lt;/mn&gt;&lt;mo&gt;-&lt;/mo&gt;&lt;mn&gt;0&lt;/mn&gt;&lt;mo&gt;.&lt;/mo&gt;&lt;mn&gt;8&lt;/mn&gt;&lt;/mrow&gt;&lt;mrow&gt;&lt;mn&gt;0&lt;/mn&gt;&lt;mo&gt;.&lt;/mo&gt;&lt;mn&gt;7&lt;/mn&gt;&lt;/mrow&gt;&lt;/mfrac&gt;&lt;/mfenced&gt;&lt;mo&gt;&amp;#xD7;&lt;/mo&gt;&lt;mn&gt;100&lt;/mn&gt;&lt;mo&gt;=&lt;/mo&gt;&lt;mn&gt;14&lt;/mn&gt;&lt;mo&gt;.&lt;/mo&gt;&lt;mn&gt;29&lt;/mn&gt;&lt;mo&gt;%&lt;/mo&gt;&lt;mspace linebreak=\&quot;newline\&quot;/&gt;&lt;/math&gt;&quot;,&quot;origin&quot;:&quot;MathType Legacy&quot;,&quot;version&quot;:&quot;v3.21.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enced open=\&quot;|\&quot; close=\&quot;|\&quot;&gt;&lt;mfrac&gt;&lt;mrow&gt;&lt;mn&gt;0&lt;/mn&gt;&lt;mo&gt;.&lt;/mo&gt;&lt;mn&gt;3&lt;/mn&gt;&lt;mo&gt;-&lt;/mo&gt;&lt;mn&gt;0&lt;/mn&gt;&lt;mo&gt;.&lt;/mo&gt;&lt;mn&gt;2&lt;/mn&gt;&lt;/mrow&gt;&lt;mrow&gt;&lt;mn&gt;0&lt;/mn&gt;&lt;mo&gt;.&lt;/mo&gt;&lt;mn&gt;3&lt;/mn&gt;&lt;/mrow&gt;&lt;/mfrac&gt;&lt;/mfenced&gt;&lt;mo&gt;&amp;#xD7;&lt;/mo&gt;&lt;mn&gt;100&lt;/mn&gt;&lt;mo&gt;=&lt;/mo&gt;&lt;mn&gt;33&lt;/mn&gt;&lt;mo&gt;.&lt;/mo&gt;&lt;mn&gt;33&lt;/mn&gt;&lt;mo&gt;%&lt;/mo&gt;&lt;mspace linebreak=\&quot;newline\&quot;/&gt;&lt;/math&gt;&quot;,&quot;origin&quot;:&quot;MathType Legacy&quot;,&quot;version&quot;:&quot;v3.21.0&quot;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D79FB3-70AE-CA40-B13E-E6AACA62F356}">
  <we:reference id="wa104381909" version="3.21.0.0" store="en-US" storeType="OMEX"/>
  <we:alternateReferences>
    <we:reference id="wa104381909" version="3.21.0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fenced open=\\\&quot;|\\\&quot; close=\\\&quot;|\\\&quot;&gt;&lt;mfrac&gt;&lt;mrow&gt;&lt;mi&gt;t&lt;/mi&gt;&lt;mi&gt;h&lt;/mi&gt;&lt;mi&gt;e&lt;/mi&gt;&lt;mi&gt;o&lt;/mi&gt;&lt;mo&gt;.&lt;/mo&gt;&lt;mi&gt;p&lt;/mi&gt;&lt;mi&gt;r&lt;/mi&gt;&lt;mi&gt;o&lt;/mi&gt;&lt;mi&gt;b&lt;/mi&gt;&lt;mo&gt;.&lt;/mo&gt;&lt;mo&gt;-&lt;/mo&gt;&lt;mi&gt;s&lt;/mi&gt;&lt;mi&gt;i&lt;/mi&gt;&lt;mi&gt;m&lt;/mi&gt;&lt;mo&gt;.&lt;/mo&gt;&lt;mi&gt;p&lt;/mi&gt;&lt;mi&gt;r&lt;/mi&gt;&lt;mi&gt;o&lt;/mi&gt;&lt;mi&gt;b&lt;/mi&gt;&lt;mo&gt;.&lt;/mo&gt;&lt;/mrow&gt;&lt;mrow&gt;&lt;mi&gt;t&lt;/mi&gt;&lt;mi&gt;h&lt;/mi&gt;&lt;mi&gt;e&lt;/mi&gt;&lt;mi&gt;o&lt;/mi&gt;&lt;mo&gt;.&lt;/mo&gt;&lt;mi&gt;p&lt;/mi&gt;&lt;mi&gt;r&lt;/mi&gt;&lt;mi&gt;o&lt;/mi&gt;&lt;mi&gt;b&lt;/mi&gt;&lt;mo&gt;.&lt;/mo&gt;&lt;/mrow&gt;&lt;/mfrac&gt;&lt;/mfenced&gt;&lt;mo&gt;&amp;#xD7;&lt;/mo&gt;&lt;mn&gt;100&lt;/mn&gt;&lt;/math&gt;\&quot;,\&quot;base64Image\&quot;:\&quot;iVBORw0KGgoAAAANSUhEUgAABS8AAAEICAYAAAC+rgHUAAAACXBIWXMAAA7EAAAOxAGVKw4bAAAABGJhU0UAAACcOZ1N8QAATJlJREFUeNrt3Q+EFd//+PGXtVaSyEqSRJKVvEWSZCWSJFmRlSSJrCRJJElWIkmSRJIkWZIkSSRJkkiykkSSJIkkyVrx+c3re+f+ut3unHNm5szc+fN8cLw/n/f77pyZM2fOPfc154+I2f8sCQAAAAAAICniDgBoRAAAAAAAQCERdwBAIwIAAAAAAAqJuAMAGhEAAAAAAFBIxB0A0IgAAAAAAIBCIu4AgEYEAAAAAAAUEnEHADQiAAAAAACgkIg7AKARAQAAAAAAhUTcAQCNCAAAAAAAKCTiDgBoRAAAAAAAQCERdwBAIwIAAAAAAAqJuAMAGhEAAAAAAFBIxB0A0IgAAAAAAIBCIu4AgEYEAAAAAAAUEnEHADQiJdZPEQDAP3qCNJNiAAAA9BsqgbgDABqRkugL0vog7QvSWJA+hmW8n6IBUOMfG4uDNBSk0bBtfBOk30H6QvEAAAD6DZVA3AEAjUjBaJByZZA2B+l4kK4H6YOhjDdQZAAq3iYuCX9ojATpYpBuSuMFzm9D23idogMAgH4D/QbiDgBAI5LeniBdC9L9IP1wKNPWNBmkXooQQEXdjNkmtqYRig8AAPoN9BuIOwAAjUh6d1J8yT6g+ABU2LEgvQ7StyD9itk+LqL4gFJYFqR74TOu6bY0Rk0BAP0GEHcAQCNSQD1hh/2kNEZV2sr3IEUGoGZt5OogvbO0jV8pKqAUhiKeYZ3aOUzxAKDfAOIOAGhEim2TQ/kuo5gA1NCIpW0co4iAwpsh5uVyJoI0QDEBoN8A4g4AaETKW77fKB4ANbXV0j7uooiAwtvt0I+8RDEBoN8A4g4AaESKq094QwgAnYxa2kdGawHFd8WhH8lUTgD0G0DcAQCNSIGtsZTtdooIQE3dMLSNnygeoBTGxG0TDQCg3wC+KwDQiBTUAUvZzqGIANTUd0PbeIXiAUrhrEM/8iPFBIB+A4g7AKARKa5bhnJ9Q/EAqKkBy/cOOxQD5bDWoR95imICQL8BxB0A0IgUU480dtmMKtezFBGAmjLtGPpbGjsYAyiHp2IeddlPEQGg3wDiDgBoRIpp0FKuQxQRgJoyrVv1nOIBSmVmkB5FPMvzKB4A9BtA3AEAjUh6q6QxvXvQ83GPivkNYR9VD0AN6aj0X4b28ThFBJTSiiDtCNLOsG8FAPQbQNwBAI2IB3Plz+LPI56P/chQpg+pdgBqyjYqfTVFBAAA6DdUDsFLADQiCehbvCct17nY47F7pTG6MqpMj1DtANTUqKFt/BW2zQAAAPQbiDsAQO0bkQst1/jF87GHLGW6gmoHoKYeG9rGmxQPAACg31BJBC8B0IjEdKDtGq94Pv4ZQ3n+pMoBqKmpYh6VvpsiAgAA9BsqieAlABqRGHZ3uMZhz3m8NJTnGFUOQE1tsnzfDFBEAACAfgNxBwCocyOyP+Ia+z3m0W8pz11UOQA1ddHQNn6geAAAAP0G4g4AUOdG5HTE9b3wnM+wpTznUuUA1NRbQ9t4meIBAAD0G4g7AEAdG5EZQbpjuL6TnvO7bMjrHdUNQE3Nt3zXbKKIAAAA/QbiDgBQt0ZEd/V+b7m+tZ7z/GDI6zzVDUBN7TS0jboY/3SKCAAA0G8g7gAAdWlEpkn0NPHWNBmkHo/5LrDkN0R1A1BT1w1t41OKBwAA0G8g7gAAdWhEZgbpYJC+OlyXptue87e9IexLcMwl0gjEPgvSryBNBOlHkO4GaUT8Bl/TmBOkLdKYNn8vSN/Cc50Mz/tjkG4EaU94n7ptWVh+V6SxrMDX8Dwnw3v1M0ivpLE7/F5pTF1B9L1fH6RtQToVltmjsJ7udPj75UE6GqSbQfoc1pvf4T8/hf9en+sFOV6TPqvrgrQjSJeCdD9I32P8/X/SGGn9MaxTn8OymVHj+v3D0D4eczxGf3hPrgXpZXgdk2H6Ed4nbS8HeSxREbPDdvRqkJ6H9bzZRv4K/51+7w5b2pfR8FmbldE5DoXttLYpr4O0OqM8joQBDZ1VszXmMfTF9q6wL/K9pX/yKmyf56U8x57wPmgZfGjpA70Njz+b6ky/gX4D/QbiDgQvAdS3EZkZfoE9D79c/+cxjcY8lzHDsR7FPNby8G9s5zjexQ6xlv2BsDMQp1y1c3m4C+e7KuxQfk1YHx6Gx6ibvvCH6KbwfmvH9nbYsbY9c8sNx9wv9mUdOr1w8PljpCfssA+HnVf9wfMlIu8Hjp3kq4bzfxN+pm71e7klb1u+A2G5Tsa4njfhfQXKaEHYp4jTr/kdPsca1NkYPle6NM6Jlu/etN/569uCMz8jziNpwKUnbC/0ZegFQx6aXIONU8Iy+WkpPw3UDCU85/3hd6Lp+PpSdyX9BvoN9BvoNxB3IHgJoH6NyFxDh8FHituJNb0hPOJ4jOlhRyLOeY5LviMw54c/Kto7BI/CHxz9LR3NnYZyuZDDuWq56GjPTrsV6gZKx8IOdl/L55eG//57xHlflfqss3MsxfPzJeKY+lx9THHcn+EP8yRWhM9ic3RQnMDAUcuxBx3bo/M1rN+HLQGDHkPQ4aSkezF1SxojroCyGIn4wa3tpo4mW9zyzPSG7dqoQ/DspWP+zRFgV8PnR9vKiRjPnOt0Tm1n1ocBqWthX8b1WX/rmMdgzGCXXueimN8pb2Ic/1uGgSj6DfQb6DfQbyDuAIBGpKC2ZBi4/F/MDuwSy7FWOBxD3zJ+SHiuIzmUt3a4T3foEGhnx/QGdK/kt2FSq03hubXnqVOKtos94KvT655EnLdOnZlZg/ZBRyvsDJNOt7sU/sB0qZOX2441Tcyjk+Om9Qmu52aK/FZb2iLXjrKvtXbLVL8fGsrjRsTfzA/Pw0ddecoPEZTEEcOP6amWv7W1sWOO57At5fPmOp1zIkUeZx2OfyjhsS86nv/RjMuHfgP9BvoN9BuIOwBATRoR0zSIM57z2i/mN4Q2W1N25O9lXJabpfPb4RsOX+6zDOd9PYNz1bWU7kbkdy1mZ0Snvr01dNTq2rHZL/FGLus9ed3WEb8SfqY5CkU7zQPiNv2uOYIl7pIJ+hJhXVgn9d4tDDvsb1P8cEjyQ3+gRvW71/IDbSTiPn0Vvy+jbvF1j4JbH1F3te2cEuM4lyOOc8rx73vCZ19HUi0L20xt5+47Pmuu00i1H3YuTBfC/sQvxzw2WI59KUVb8cFy7L7wXJMe/2VN6zf9BvoN9BtA8BIAjUgH/6Xs+MZ1R5KPdjgo/74B3R92NiT8AXHRcj0/MirH6WHHplOe5zzUM9/nrUHWqGktBxIec43h/K/VuO14Y+m0N6ccLQzrdOv0J9uPh5ni9vbc19IDs8W8LtLdiL/bkLBDvKxG9XvIUhYL2z6/Uv5dauJh+GNvTlsd2RwjoKJpC1/5KCgNcryLqLc7Yh6rry3o00w+1nJ7KPZ1I9OMENPAyAuHoFCvIejR3h/Tl6SD4XlpAOqBw/GjTOnw90/Ctkjz1tGxVx3KiH4D/Qb6DfQbiDsQvARAI/J/TFOVfxs6vkl/dJg6MLsMf9s+7eikdJ4aNiVFZzuphYaO5jlP9czneZ8x5LM15bFNP6ZW1bTteObQadcNFZqjIT5KvM0KFol9StWk+NuJ07RB1qEOn18mf48SehjWQdv6Vb9bfqDVoX6fNRz7fdtnl7T9ANGphssd8nAdxfJWgGIyBTSSrJG4tsNx1nk4z8uWZ2zMQx7bLXncMfztLfl7BGWn75z5kiy4qP3Ge/L3y9dtHT43owv9NfoN9BvoN9BvIO4AgEakpExr1Dz0nNcaSxnOj/i71rWtdKrD6hT36qfna9JRCt/EzzSKOZLtCISpbT8o4gSPXR0UfzvJV4EtYL87/HHQHEmkP1iSrIV026GN2urpmkxv4tvXrJ3d8uNqsu0cVljO91HN6rdppM2liDJtLu0RZwSX6/p2qwUonssZ9MPa1xmc4uE8bev/+WiPdlvy2Bfxd60jHh9YAlSm4z+P+JvWWSj63bYg4fG/1rSO02+g30C/AQQvAdCIdOggmdZNOuo5P9POiu8i/mZn22fmOVyT6T4983g96wzll2Q9m2HDeb9Iea7a0X1iOP4JT2Wy3lL+C2rWbiwVe8C+ObXusSRfA2m7Qxt11dM1RQXr26dB6v9+Kp3X6Go6bzjfwRrV79nitr5Zn/w9IifJBmR6X1w2PDsrQPG8NNTZpNOwD8jfu2j7YFtTbq6HPK5I/M0UR+Xv0Z+mMuuXeJvGiPw9S+aZmEfD9gnr6NFvoN9AvwF1iTsAoBFJZVD8LCbv6rHE27Wy9Qtff7C4vFmeZ7mmK56uRQOXUW/G9cfPwgTHvJFRh2BaW2ewPd33eI+nWcp/b83ajV2Gsnjd8kNPg93TU+Sz3KGNeu7henpj/NA8Jfb1onSEU/t0Mh0dvbVm9ds0Let3y4/T1h9tO1NcxzGH+vKAr30UkOmF68qExxwQvy84F0o+0ytNU3E7baazJWZQyrae3va2z7dO6X/iEFSzjaIbrWkdp99Av4F+AwheAqARaXNYsltMvt1UMa+v0/52dbH8WZtFO2uuU2I2We7TTg/XssLyAyrJwt5zLOUzmOJ8TVNivkiy6UZJn5XrNWs3xgxl0ew46wLx81LmM8WhjfKxZIJp6Yf9EZ+74XDcDeGzqQvE99ewfpvqyePwMxtb/t2RlNfgshHCDwHK1Rc7meK4zY06fKxFuU+yH51km1p8qe3zS1r6LTcc8zgq7iPGdCRpc3SdTsN3WStxp+X4gzWt4/Qb6DfQbwDBSwA0Im1MO0ne9JyX6Q1+6xtCkb/X8tEFp2fFyOec5T4tTXkd2lk0TQd7mfC4ZzM4pjpvKY+NOT8rr2rWbnxzaDu25NRG+ZgOeUTsO3zq89vc/fSjJNtEo27121RPRsMfUl/F3wuAfof6UufNMlBcpheHXyX5FNrmGpXHM+5b+WqXlojblNFmm9yc8qkj1npjloltM5DWqb6fYvTZTMEX3y/Q6TfQb6DfQL+BuAMAGpGSNiK9Yn5rv89zfqbg3JO2z95t+SEyP2Y+byS7TW+mhp0M38FRHWVqGnW5JuH52nYIHOvCs/KzRm3Gfw7txt0c2ygfncoHDs/WBfG7a2/V67dtfTMd6d1cUuJtiuCMtAUb+BGCMnpoqbfHEh63udvwcMrzm2L5Pp8U9+ChyVYxvxBu3XToVkv7ESco9FPcRnaeaPkeiNMH+tGF9pt+A/0G+g30G4g7AKARKZl1lutZ7Dk/U9CvdV2jQy2d77i71tkWr76R8houW45/LcExdSHtcXGf+uVqgeWHwY+wvHyzTUOqU8dmv0O7MZBjG5V2BEWv4Ud589laKf7Xl616/T4g5hcuQy1t4tIc68svAYrnhKXe/g4DQHGtCgMX/6U8P9vSNb7W0rtqyONhy+dGWtrEOGtxLxK3kZ2tbX6cNQeXSfa7sdNvoN9Av4F+A3EHADQiFWhETD8AvnrOa5a4bQy0vKWTsztBPjss+aQZTbrZ4QdTkh0DTbuFPpe/R0/E8dhyvgczqldzJfspSGVx11IWPpdm6HVoo76lzGOj4dh7ws+Mt+SV5bSvKtVv09pbd+TPVLrjHq/DZQTFB772UUAum4z4GmmUxCXLuR3wlM9rh/ZvgfyZZj8U8/jbLcEWffGqs1GaS/zEfdF6SLLfjZ1+A/0G+g30G4g7AKARqUAj8kzymzYxLPZ1jaa1dIKzWLxa06KEx9W1eD6L/6kmo5YfX7MSnu+I5Vw/hj88smAb0VuXaeO2zRQ0rfaYn8taRA9T5nHGcGwdrdS6+cJIhmVbpfptW75jIvznO8/XNM2hvtwUXHQopzKnvpLelzcO13ajS+dm6yv85yGP6WJfvka/g56H//+M5/7U7fAzzbUD9X7EfdH6QLLfjZ1+A/0G+g30G4g7AKARKXkjol9ApjWZtnvO76rDD4yLLV+20xPmY1q8+nOK8z/rcP/jTss4LubFu5MGLjXQ+tVyrrszrFvDlrzf1aS9WCP5vp1e61BH076UiAoYfAs70x8l/QZTdavf6x2DTGu6UF/O87VP8LKg9jhe39Gcz8s2FfqLp3w2OeTRHNk4LsnW2Pxk6SM2v+OSTEu1BV/q2vbQb6DfQL8BVYw7AKARyazjm8V0HdNIhJG2TvDyhHnYFq++nPC4A2IO9Gp6GuN4OjrBFMzVhfXTTHc7Jva3y1nu4HlKeCurjlvK4bjn/IYd2qg0U6LmWH7c7JNsRoZUvX6fdrhvdzO4jm0O+W7ma5/gZUH1WYJrrWlbjud11HIuvtbzO2fJQ/stGhzUEVhJZpyYprnqcWfLn5kyhxIc3xZ8Gappe0O/gX4D/QZUMe4AgEYks46v75FxCy3ltkz+vHk9liKfAxl1hm863PudjsfSAGvUxkU6bWRPyrLWt8s/JJ/1tpKW15matBdPJZslDJJ2zjVtSHH8nWJ+AfFe/gTfs1LF+v3S4b4tyuA6LjvkO1tA8LK4RhyvUV8+rs3pnJ5ZzmXYUz7jljyep2wPTUGK2/JnKvCzhMc/bblffTVtb+g30G+g34Aqxh0A0IikYlov6qLnvHYZ8tKOS3NKti4+35siH9Pi1ZMJO8MDDvddj21b66k/7JxEjeDUjts8D2V90OFcp2dct34Kb2VtyzKMZ5DnDYcf8L0ZHX+0JY+BDMu1avV7lmQ/ZS/KW0u+LwUiBC+LbtzxOjV4sTjjc5nh0AbP8JDPdEsezfb4aYo8rhnyaAYedVTnwoTHNwVfHta0raHfQL+BfgOqGncAQCOSmO2Lb1OOnaPWUYjLUuRhWz8p6fSJ8w73/arh7+dLY7rIL4mebj7osaw/WM71UsZ1a6HwVlbEvizDkQzy/C7ZLbrfY+h86zpSLySbFx9Vr98uU/YGunQdh/nK/z8EL4ttaYxr1fZjZobnssWS/3NP+QxbrvFHGBBKM/LqsyHQ8zbl99hM6c6Oz/Qb6DfQb6DfQNwBAI1IyRoR0xefr5EBrX46lF3azottJ78kOxjqj7pfDufePh1Ny29H2OkzBVMHPZfzKodzHcy4bu2y5D9ek7bCFvT23bF0GSG8P8XxB8W8EVaz7ZiXYZlWsX6PWY53L6PrOOxQlvMEIgQvy+BEjOvNclSf7Xk+5imfSw7XeSrjIIXOmkk6Is8WfFlW07aGfgP9BvoNqGLcAQCNSCqmzWJeeM5rmUO56Zvf/pT52BavnpPgmNsdzv1TSydQ16u8L9HTfnQt0dEMv9wvWM71cw5161ZOP96KzrQsw5sM8tvvUFfnpDj+qMPxL2RcplWs358tx1uV0XXYptreE6A8+sR9+nhWo4NMo8x8P8+2kWS6i3OaabA7HcowzfIvVy3nXlf0G+g30G9AFeMOAGhEUjF98Z30nNdBh3LzMUXItH5S0nWfbjmc+0fLD4nnYQduaQ731bbzatadRNvU/awWEC+a2ZLvbqHqUcadymfSnWlKVa7fiy3HepPRdaxwuJerBCgXHS34Q9yCl7/F//qXqy156iwOH7sZu4yWSxucvS7ZzqAw9UHHalp/6TfQb6DfgKrGHQDQiKTq4Ge1q2An98T+1nNKyjz6xX9wtMehw9GeJsLOoO7krmsXTS/QfU2z27or21Sw5zVpJ7ZZymG55/zmOtz7NM/1dIfj36N+x67f+yS76Xom1yz5PhOgnNbH+L72PcvklCW/G57y2Sv2UZfTUuZhCwJvTHFsW/B1a03rLv0G+g30G1DFuAMAGpFUTGuvaLCu12NeLm8cfYy6tHUOFiQ4pss6Od/DjsRQ2Enq6eJ93SrZ7hjp4rblHHbWpJ0wrUf0JYP8jki2b+JdFodfRf2OXb9vW65nVgbXMFfMu9lqWs1XPUrMZapqMw17zPeVJa9dnvK5I9kuzbI84++TPcKGfvQb6DfQb0Bd4g4AaERSMU0HeuA5r7Vin0blY3TiFUMeLxMec590f62eOGybSjzNOP+Zls6NTt3pqUk78cVQDpc956Vlalv/bFvKPC5bjv+W+h27fttGdt/P6DrOWMrxDl/zqICH4ha89DXFco5DXnM95GN7IfzbQz62TTl2pzz+zQz6a/Qb6DfQb6DfQNwBACrYiJimAx3xnNdxS3md95SPaf2k0YTHHHO435sKdF9tb3cvZ5z/UenOVJai+S/nOmMbWTCe8fOl6RD1O3b9XiP5j1Kea/nhoy+T5vM1jwrQ0XvfxC2A6WOn4ZGcAjUbcwgiPLC0EWmW+ekJjxF1/DM1ra/0G+g30G9AVeMOAGhEErPt/L3Cc35PLfn52MTGtn7SsoTHfSTdX2g8jrfSvSnbOhrENGpANzXqq0kbYVqPTN/A+14H1TZVMe1UHtuPKr2mOdTv2PX7uKVM+zO4jquWMtzHVzwqZLu4BS9PecjLtrnfOU/XZNs5OW2Qq1fMI8Uupjz+oOX819W0rtJvoN9AvwFVjDsAoBFJZb9kvxNm0zRLJ3jcUz6m9ZPSrBP03eF+9xbo3v6UfDdicr0HvtcVKzrTj9gnnvOyLfB/LeM2I8tpSlWv388Nx3ucwTWstFzDQ77eUSC67uKYpN+kxPYC1cfz5rK2t69NQUyj2b556MMNSbajVE3rkU5KfZaWod9Av4F+A+oQdwBAI5KKaaH3m57z2mQpq8M5dPqupjjuRMnut+3H038Z5atvjj8VoJNaBLb1iI55zEun7n0Uc+Dex1v4e5Z6tZ36HZttF9ajGdTLV5a6MkuA4tjlqZ+wwuF7/GfKPNZZju9rI8Slkv3oznOG43/wcPzHwrp59BvoN9BvQF3iDgBoRDLrIO3xnN95S1ktzOGatqQ49u+S3W/buU7JKF/Tmj66vuq8GrUPth3q13rM63gOedlGFE1mWK+qXL9tu7Cu8XwNpl1ltZ1byVc7Cqa50cZ1D8d6JvYprGmcthz/QQ7Psa+1O03TbE+nPPZUS7+qrtNP6TfQb6DfgCrGHQDQiKSy2nLuiwx/q2/87sbs2LyR7HeUtK2fZFtTRwOsUdPSyjby8lcXzlU7YKZpOdtr1j7kNSVuieVHoK+RGrbNIW5SvxO5bPlR4HPq5FJLXdnK1zoKqLkj9UcPx7JN35xIefznluMftPz9+iAtcMjHNAX+k4dyWijZrolum5K+yCGYsop+A/0G+g30G4g7ELwEUP1GxNRBsq0N2Zya7brBzmxLOY16uibTm0HbFKeD4eeeRvx3lzUvs5oy0R92AOP40IW6ed+Q36Uatg+mTZ58rUekIwVMLwbueryes5Y6lWcHtkr12zSd7LnH89eXTm9TBFWAbnnRUk/npjzWYkvb8Tlle2ybpbHE8PcLwr7GO4c+gSkPH7t075Ns1g9vOpfiHjQ3X9J1Pau2+R/9BvoN9BtQxbgDABqRzDpIpgW6D4WfOR4jr62SzQ7g7R4kvKb18mfERdT09TsO93tTBvdJRx+8D48fZ5TBzZzrpml3zKeS37QgkznhD6YP4b3+Ko3dWudnkFef5UfsKU/5XDTkoT/4p3m8JtOPncmc73FV6veA5TqueLwG03rAo1IseT6rKL7WmQ+7Uh6rR7IbCbZBkgdGta1+LW5L3GyRbHeHVvck25eRpvXzTOuTr5Q/05CHK9YW0W+g30C/gX5DVeMOAGhEEuuVZFMAmkG+1xLvbfeYZPsGv/mDxLSuzu6Iv9NRGD/Cz4wYjn/K4X77Hl24seXcHkq8Rf6PWs7V52iFZYay18DrzALUef3B802i1xzyvT6QbUqcj0D3DsPx33gu9zmW67mV8/2sSv22TWHd6+kaTCPtD0ux5P2sotj6xP+osDTTupM+Z/8Lg0ZR7oafuZGyT/XVUx/R1J9Ku1v6LEs5RQWo54V9RltZ0m+g30C/gX5DFfsNBC8B1LIRse2G2WltyGaQT4OecXfk+yzZvyG0reHZaSSCTmdv7rR4LeXxm2+RZ3u6ntaF1PVN+PSYf79csl/MX8IOWNT0lU9iX2c0D7MNnZrWzo3Pt7O2qVLzPNT3ScMPEN9LGOyUYuwWWrX6bRsJMuThGkYMx99RsO+mbjyrKLaV8u96bmmmjvdJdpsH3kj4PDdHwrns7qwvak1r6Pl4iTok2e6WvtlSTp1mmcyQPyNTdVrslAq2RfQb6DfQb6DfUMW4AwAakVRMa0N+j/hiaH4R74+Zl216g69pP4ck3htV7Qg319HS6Usu02Q+ONzzsZTXoZ2axy3HG5fkb2hN03UOeCjzaRK9OcE78RfITeucw33zPdXGNCUu7YYQyyR6DdYnDj9+ff8o/x0+T3kre/3WIIRtA4G00z+3S/TorNVSPN14VlFsnQJpaTYTMb2IvJ/yXN9b6u3UDn/Tujv5mpTnr2mDhzK/mGEZqfMx+2v68ra5QdEXyeelKP0G+g30G+g3EHcAUCllbURM6zc+bPvs7JYv+zsJ8tqTU+fFNuKhdee9/paOsL6tc30bt8/xCzLpdIqRts7lM0k3tcT01vtFyvLWH2FRa4w+lmJMFW/65HjffnnKzzYlLs2OuaapMVckm80LbCN9HnXpvpa9fg861Mk0I2EOSPRaW3OlmPJ+VlF8nfoQP1MEAU5Lss10XEzE6BNqu9oaJDzu4fwnxM8uw58yDvA8jFFOs+TPi2a978sq2hbRb6DfQL+BfkNV4w4AaERS+WXp/C4MOx46tac55VvfGCYJNJqCik89XpNtxENzeoq+NXzbcq1xpolomYyL+xs+1zfZq+Xv3VQ13RY/i6Y/N5zjxoTH1Ot6EnHM055+PPk06XjPfK15NGzJYzzhcbdG/DieCDvkWbF1lvd38d6WuX7vcqiPSdoA/Zur0vll0dECPp/dfFZRfJcj7v/1hM92VBDHx+YTtp3Gh1va1Nbv/DijGU0jx657uIZFlmv4z0MetpFjA+HzrW1kc41LbRvW0m+g30C/gX5DjfsNBC8B1K4RmRmjkW+dKpBkrRDb9IbjHq/rd4LrStJJWSD2tVVaR4foGkYb2joT+uWpAcuD8m8w9Lek2zCgXesC9512Po07ekV/uHQKFOuogHUFrfOu9+u3pw7aNYd84ryB1ylzlyKO9Tz8oZcl2yYU3VxHqMz1e4tDnYw7ymhNxPk/DoMSRZf3s4riM63vFve7MmrWyU1P5/ojQT/kpbivab3AcqytHq7hgGS7GVCS/poG2tbTb6DfQL+BfkPN+w0ELwHUrhFZLvE6jd8k+TSdFZZj+3yLHudHg76lG0pZht8k/o8UW3ohfkY1tFtq6Kh9CP+7S0f4ZIcfHVqWJ8TPKNGsXHYs//ue8vvskJeOrLVteqBB7r0Rx9N/N5JT+T2z/PDutrLW7z75e33bNJtvDIb1t9MmDJtL9J2a97OK4ntrqQsnHH6Q6qioexF/f97jud6K+Z0fd3fnvZL9MjymKd1jnsrpi8R7eb6KfgP9BvoN9BvoNxC8BFC/RkQ7Pr/EraHXL/A0b90OizmA6PMNmOuX1xfxs6PgPEvnLE7SH2dZ77qoa9U8EPN0s6G2H1Izw393sUOd0f9/Roq7Bk6rBQ51XjufSzzkNSDxRtwMy59RN/o86GiETWHn80dE/T0s+QWLp1uu4XhB7nFZ63df+OPHNO1Jl95YK39Pd9I1rTaEP5A6BXf0RchWKd8ogzyfVZRD65RX/d/f5d9psPpjW9fGXNj2bG0In+NOa+99yuAH+rYY7X+SNfDuift65UlMFfOoSF+7DLv217q5zh79BvoN9BvoNxB3AFApZW1E9jicu3aC0r7FN3UK7ni+JtM0kGa6Kv43ktku5jWoTMFbHaWxMeeOgna6nkiyIOvv8AfSLin2SMtO1kn04vG/wo5/Hs+WdhofJSh3/dG6pQudSts6XCsKdp/LWr+1XTok/659Gyd9Dn84LZVyy+tZRfFNa7n3+9ravzlhMC1ue6rrdx+Qzjt/+3BX7JtGHEnQlveKObDoYyOdzZZz9xWUWSDm2TI6s2V/AYIo9BvoN9BvoN9A3AFAZZS5EdG3b3fCDuRE2OjrSAB9IzpQ0vuhHWt9G/q17ZqO5XBNy8IfJLp21sfwy3JC/owUGQ//27Gw7Hu7XFbzws7W1bBT/L3lfJvnrKMexsJz1iBr2Re61tEJF6QR5J4I/3kx/CHli23X++YLAR0hdDCsE19a6ov+80P470+FHa4pNLW1qt/94X0/EZ7f07bz/xW2cdp+68Zg+gJlUcXuXx7PKopvTXj/T1o+p8ut6KYYz8Lv/YmWPsDL8DnSYFheI2/2hMGQZruu/ay74Tn0c1v/z6Lwe67ZB/0cfn/uKFhfg34D/Qb6DfQbiDsAoBEBUCm2DapeUUQAAIB+A4CYiDsAoBEB4MWgpT24QBEBAAD6DQBiIu4AgEYEgBdHLO0Ba/UBAAD6DQDiIu4AgEYEgBcPxW3dKgAAAPoNAFwRdwBAIwIgNdtOsOMUEQAAoN8AIAHiDkhKX4TpRmMsRUIjQiMC4P92nTS1BecoIgAAQL8BQALEHRDX9CAdDdLPsI78KPj5LgrS3iBdC9LzIH0P0kSQJqWxud2XIN0M0skgrZHGpndcB40IgJjOCOtWAQAA+g0A/CPuAFfTpLGm8ve2OlLE4KUGWA8G6Y1DHW9PX4N0PEizuQ4aEQDuxg3twO+wQQMAAKDfACAu4g6wmRqkw0H6FlFHiha81GDfd0Od1v92XxqjFycMn9PRjBqs7eE6aEQAmM2wtAMvKCIAAEC/AUBCxB0QZUqQDkhjBJ+pjhQleLkwSC8jzvFzeC2zOvzdf0E6JdEBQP3unM910IgAiLbZ0g6coYgAAAD9BgAJEXdAu74g7ZdGoMxlenIRgpfrwvPodH63pfFyz0YDe88ijqGjTge5DhoRAJ1dtrQDQxQRAACg3wAgIeIOaOoN0j5xD1oWJXg5LI1lUTqd25WYx9LRpvckevr1aq6DRgTAv95b2oFpFBEAAKDfACAh4g7QtRD3BOmjxN8UptvByyHDeT1KeEz9rhw3XOtSroNGBMAfCy1twDhFBAAA6DcASIG4Q31p0HIkSB/kz6Zuj4N0URprJz6RYgcvV0hjFGGnc/oZpDkpjj0QpMmIY38K0kyug0YEQMNBSxtwhSICAAD0GwCkQNyhvl6H91h3q94rnQNZl6SYwUs9V9P09oMe8jhmOP49roNGBEDDG0sbsIsiAgAA9BsApEDcob6OBmmR5TOzpJjByzuG89Fg4BQPeei06+8Zf69W4jpoRID6GnFoA/ZSTAAAgH4DgBSIO8DmtRQreLnFcj5HPeZ1wpCP7tzdz3XQiAB1tSFIEw5tgH6JsPA+AAD0G+g3AEiKuANsbklxgpc6EtG0sZCu2znHY37zLNd+oebXQSMC1Mji8IeHjpp4IPF2dtNFdk8HaThI64O0RuxD/wEAAP0G+g0AiDvAxU0pTvDykOVcHmSQ5yMxBxkX1vg6aESAGhmL+cPDlliQHwAA+g30GwAQd4APRQle9gbpi+VcRjLId48lz4s1vQ4aEaBmVkhjBISvtJwiBQCAfgP9BgAliTvslHJuKrYxSEdqUEeKErzc4VBf52SQ7wJLnpPS2NiobtdRqEYEAAAAAABUU7fjDq2jwcoUwNTA5WR43qMVryNFCV4+tpzHuwzz/mDJ+0gNr6MwjQgAAAAAAKiubsYd9nXIrwwBTA1c/m4775MVriNFCF7Ole4ug3LNkvfbml1HYRoRAAAAAABQbd2KO5g2LClyAHNI/g1cNtPpitaRIgQv9zjU1e0Z5r/LIf9lNbqOQjQiAAAAAACg+roRd3AJoBQxgGkKXDbT3grWkSIEL2871JmVGea/2iH/YzW6jq43IgAAAAAAoB66EXeYEaQXUq4Apkvg8kGQplSwjnQ7eNkTpAnLOfwOP5eVPof6+rwm11GIRgQAAAAAANRDt+IOGsB8KeUIYA45nGdVA5eq28HLFQ7l/ymHcvgu9sDjtBpcR2EaEQAAAAAAUH3djDuUIYDpErh8GKSpFa4j3Q5e7na4B7dzKIc7DuexsQbXUahGBAAAAAAAVFu34w4zpbgBzE0O5/VIYo5SK6FuBy+vSXd36G66KunWi6zKdRSuEQEAAAAAANVVhLhDEQOYLoHLx1L9wKXqdvDyqcO9OJpDOZxwOI+bNbiOQjYiAAAAAACgmooSdyhSAHOzw3k8kXoELlW3g5cTDvdjaw7lsM3hPD7W4DoK24gAAAAAAIDqKVLcoQgBzGEhcNmum8HLqQ73I/YajQm5jMaN2i28KtdR+EYEAAAAAABUS9HiDt0MYLoELnXq7/Sa1ZFuBi9XiVvQb10O5bDe8VwGKnwdpWhEAAAAAABAdRQx7qABzFeSbwCTwGW0bgYvXXZ71zSYQzmkCUBW5TpK04gAAAAAAIBqKGrcIc8A5haHfJ4FaUZN60g3g5dbxS3Qlsc0/umO57K5wtdRqkYEAAAAAACUX5HjDhrAfCPZBjBdApfPpb6BS9XN4OVOcQu09eVQDlMcz2V7ha+jdI0IAAAAAAAot6LHHbIMYLoELl9IvQOXqpvBy9PiFmjryaEc+hzP5ViFr6OUjQgAAAAAACivMsQdsghgukzj1Y2D+qkiXQ1eXhS3QFtRnhdN5yt8HaVtRAAAAAAAQDmVJe7gM4BJ4DIegpfuz8v/wnOu6nWUuhEBAAAAAADlU6a4g48A5jZxC1zOpGr8fwQv3Z8XgpdC8BIAAAAAAPhTtrhDmgDmdoe/eyUELtsRvHR/XgheZnRR/yORSCQSiUQikUgkEolUqlTX4KWanSCAucPh868JXBYueHmhIkG/qlwHwUsSiUQikUgkEolEIpFIBC8dA5jvHAOYBC7LG7w8V8Kg37kKXwfBSxKJRCKRSCQSiUQikUgELz0HMG3pDYHLwgYvd5Uw6He0wtdB8JJEIpFIJBKJRCKRSCQSwcuYAcz3KQOXs4hPFjZ4uc3xPvblUA59jueyvcLXQfCSRCKRSCQSiUQikUgkEsHLBAHMDwnK8C2By8IHLzc53supOZTDVMdz2Vzh6yB4SSKRSCQSiUQikUgkEongZQ4BzPfh36DYwct1jvdzYQ7lMNPxXNZV+Doq3YgAAAAAAIDiqVLcQYORnx2u6aMQuIyjm8HLGeIWaFubQzmsdjyX+RW+jso3IgAAAAAAoFiqFHdw2VW8mXZw6511M3ipfjvczw05lMMGh/PQc+2p+HVUuhEBAAAAAADFUpW4w3aJP/WeAKabbgcvXzncy+EcymGzw3l8qMF1VLYRAQAAAAAAxVOFuIPrTs4EMJPpdvByzOE+7s6hHHY6nMeNGlxHJRsRAAAAAABQTGWPO2yV9JsfEcA063bw8qjDPbyYQzlcdDiP0RpcR+UaEQAAAAAAUFxljju4BC51V3GXXcgJYEbrdvDSZY3GsQKUg23NyqpcR6UaEQAAAAAAUGxljTu4Bi5nh+m9EMBMqtvBy2kO9+5FDuXwXOyb3EytwXVUphEBAAAAAADFV8a4wxZxD1w26f9+JwQwk+h28FKNW85hIodzmJD0gceqXEfpGxEAAAAAAFAOZYs7uAQuNUg5u8PfEsBMpgjBy9MO921+hvnPd8j/RI2uo9SNCAAAAAAAKI8yxR2GHc73rXQOXDbpf3sjBDDjKELwcpXDPduUYf6bHfJfUaPrKG0jAgAAAAAAyqUscQcfgcsmApjxFCF42ROkr5bzOJVh/mcseX+q2XWUshEBAAAAAADlU4a4g8toMQ1czopxTAKY7ooQvFRnLefxKMO8n4q/gGNVrqNUjQgAAAAAACinoscdNjmcowYhZyU49kwhgOmiKMHLJWLfJbsvg3ynhcc25b2ohtdRmkYEAAAAAACUV5HjDlkGLpsIYNoVJXipXljOZSiDPG1LFjyu8XUUvhEBAAAAAADlVtS4Qx6ByyYCmGZFCl5ut5zLlS5c/6YaX0ehGxEAAAAAAFB+RYw7DIlb4HKmxzwJYEYrUvBSN7z5aDiXX+J3ynV/kCYt9bDO11HYRgQAAAAAAFRD0eIO3QhcNhHA7KxIwUs1YjmfEY95HbDktYXrIHgJAAAAAACyU6S4gwYubRuKvJZsApdNBDD/dVuKFbzUUYsvJaNRhC16g/TBkM8zrqN4jQgAAAAAAKiWosQdihC4bNI8XgkBzCZbMPdHF85piaW++Lg3ptGKOgV7EddRrEYEAAAAAABUTxHiDhvFHrjUYOLMHMuFAGbDVId7o/+9pwvnts9wTl+ksc5jUrOlEZSNOv4+rqNYjQgAAAAAAKimbscdXAKX45Jv4LJpZph3nQOYOx2uX9PqLp3fZcM53U54TA3EPjQc9xLXUaxGBAAAAAAAVFc34w4bxLwDcjcDl02a90upZwBzWpDeiVvw8n4Xz/O64bwuJDjemOF4N7iOYjUiAAAAAACg2roVd1gvxQ9cNtUxgDkrSI/ELXDZTOekO9PH1VkxB+pmOF7zPcv1cR0FakQAAAAAAED1dSPu4BK41GDhzAKVk2sAc1uJ64IGxnQ0rAa3fkq8wGUzvQ/S0SCtDVJfzue/JUjfI87ra5AOBWluh7+bH55z1N/qmpFbuY5iNSIAAAAAAKAeuhF30N2Nv0h5ApdNtgDmhyDNKdG9Xxmkz0H6FqQJSRastKWJ8Piaz+Ycrkk3qLki9t3RH4bph+WzY126p6W6DoKXAAAAAAAgK92KO0QFMIsauGyKCmB+ks6j4YpsjWQTsCzCqNSBIJ0Xe1CvU/oljTUmFxfgHpXiOgheAgAAAACArHQz7rBQ/g5galBwRgnKrD9IL6Tcgcu60DU4dQr78SDdDNJbaUyJnwiT/u934X87EX62h+soTyMCAAAAAACqrdtxh2YAsyyBy6ZmAFMDl/OpRqARIXgJAAAAAAD8K0LcYYGUK3DZNCM8d4BGRAheAgAAAAAA/4g7AKARAQAAAAAAhUTcAQCNCAAAAAAAKCTiDgBoRAAAAAAAQCERdwBAIwIAAAAAAAqJuAMAGhEAAAAAAFBIxB0A0IgAAAAAAIBCIu4AgEYEAAAAAAAUEnEHADQiAAAAAACgkIg7AKARAQAAAAAAhUTcAQCNCAAAAAAAKCTiDgBoRAAAAAAAQCERdwBAIwIAAAAAAAqJuAMAGhEAAAAAAFBIxB0A0IgAAAAAAIBCIu4AgEYEACqmnyIAgH/0BGkmxQAApUPcAQCNCACUWF+Q1gdpX5DGgvQxbH/3UzQAakqDlIuDNBSk0bBtfBOk30H6QvEAQOkQdwBAIwIAJaBBypVB2hyk40G6HqQPhvZ3A0UGoOJt4hJpBChHgnQxSDel8QLnt6FtvE7RAUDpEHcAQCMCAAW0J0jXgnQ/SD8c2tvWNBmkXooQQEXdjNkmtqYRig8AiDsAoBGhEQGA9O6k+HH+gOIDUGHHgvQ6SN+C9Ctm+7iI4gMA4g4AaERoRADAL12/TadHnpTGqEpb23uQIgNQszZydZDeWdrGrxQVAJQScQcANCIAUCKbHNreZRQTgBoasbSNYxQRAJQScQcANCIAUKG29xvFA6Cmtlrax10UEQBUru9L3AEAjQgAFEyfMLIIADoZtbSPAxQRAJQScQcANCIAUCJrLO3udooIQE3dMLSNnygeACgt4g4AaEQAoEQOWNrdORQRgJr6bmgbr1A8AFBaxB0A0IgAQIncMrS5bygeADU1YOmTDlNEAFBaxB0A0IgAQEn0BGnC0OaepYgA1JRpp/HfQZpBEQFAaRF3AEAjAgAlMWhpc4coIgA1ZVrv8jnFAwClRtwBAI0IAHi2ShrTuwc9H/eomEcW9VH0AGpIR6X/MrSPxykiACg14g4AaEQAwKO58mfTiBHPx35kaG8fUvQAaso2Kn01RQQApUbcAQCNCAB4oqN/nrS0gYs9HrtXGqMro9rbIxQ/gJoaNbSNv8K2GQBQXsQdANCIAIAnF1ravy+ejz1kaW9XUPwAauqxoW28SfEAQOkRdwBAIwIAHhxoa/+ueD7+GUNb+5PiB1BTU8U8Kn03RQQApUfcAQCNCACktLtD+zfsOY+XhrZ2jFsAoKY2WfqiAxQRAJQecQcANCIAkML+iPav32Me/Za2dhe3AUBNXTS0jR8oHgCoBOIOAGhEACCh0xFt3wvP+Qxb2tq53AoANfXW0DZepngAoBKIOwCgEQGAmGYE6Y6h7TvpOb/LhrzecTsA1NR8Sz90E0UEAJVA3AEAjQgAxKC7er+3tH1rPef5wZDXeW4JgJraaWgbdROf6RQRAFQCcQcANCIA4GCaRE8Tb02TQerxmO8CS35D3BoANXXd0DY+pXgAoDKIOwCgEQEAg5lBOhikrw5tnqbbnvO3jSzqS3DMJdIIxD4L0q8gTQTpR5DuBmlE/AZf05gTpC3SmDZ/L0jfwnOdDM/7Y5BuBGlPeJ+6bVlYfleksazA1/A8J8N79TNIr6SxO/xeaUx5RfS9Xx+kbUE6FZbZo7Ce7nT4++VBOhqkm0H6HNab3+E/P4X/Xp/rBTlekz6r64K0I0iXgnQ/SN9j/P1/0hhp/TGsU5/DsplR4/r9w9A+HnM8Rn94T64F6WV4HZNh+hHeJ20vB3ksAYC4AwAaEQAoipnhD9/n4Y/y/3lMozHPZcxwrEcxj7U8/BvbOY4HaXYXy/5AGESIU64alDrchfNdJY1A1NeE9eFheIy60UDeammsSaj3WwNiGvj/7PDMLTccc7/Yl3Xo9MLBZxBTg/8a6NONtjTopYHSLxF5P3A4ngbXrhrO/034mbrV7+WWvG35DoTlOhnjet6E9xUAQNwBAI0IAHTNXEOgwUeKO83bNLLoiOMxpocBiDjnqQHMPEdg6iitCx0CCRps1dGXzeCMBqh2GsrlQg7nquWioz077XKsGyhp4Hu1/BkVq59fGv777xHnfVXqsz7fsRTPz5eIY+pz9THFcXW03caE17MifBb1RcNriffC46jl2IOO7dH5Gtbvw4by+GVov6ZIY1O1NC+mbkljKREAAHEHADQiAJC7LZJd4FLTohjnssRyrBUOx9DRSR8SnutIDuWtQcnTHQIJGiQxjZzaK/ltmNRqU3hu7XnqVOTtYg/4zgrSk4jz1im3M2vwjOkox51h2iWNwPq4Y5283HYsDSCNeXw+1ye4npsp8lttaYtcA2y+1totU/1+aCiPGxF/Mz88Dx915akQwAQA4g4AaEQAoIBM0yfPeM5rv5hHFtlslcZ06qQ/zu9lXJabpfOoshsOQYFZhvO+nsG56hqMdyPyuxYziKFrFL6V6ABPXQMi+yXeyGW9J6/l7wDelfAzzZG6GmwbCI/92eH4uq5q3CUT9CXCurBO6r1bKI1A31tJHnDcluB5HahR/e4Vc2B3JOI+fRW/L6Nu8ZUIAMQdANCIAECR/Gdp8zZ4zu+OIa8xy98elH9HTu0PgxRKp3BetFzPj4zKcXoYEOmU5zkP30G+z1uDrFHTYQ8kPOYaw/lfq/Ez9kbMwb7mVOWFYZ1unTZtCzrqqD+XUXe+lh6YLeb1FO9G/N0GSRZIW1aj+j1kKYuFbZ9fKf8uNaEjN7e1tInNOqLlcT9GuW/hqxEAiDsAoBEBgKIwTVXWUUC9HvPqsQQ+dhn+9mjbZ3V9t6kdPjdF7CPDfNOgQlSA6lzMY+Vx3mcM+WxNeewXknyzkap6JvZg3zz5M4pS17lcGeP4i8Q+FVvrj68dvE0bZB3q8HkNQP6SvwNsWgdt617qNfXVqH6fNRz7fdtndfmN1sClLlGw3CEP19Gvb/lqBADiDgBoRACgKExr2z30nNcaS/s6P+LvjrR8RqdIrk7Rjv/0fE26+cg38TP9co6km1Jvo8Hee5IseOzqoPjbSb4KbAH73dIIKjbXZNRAZ5I1FG879F+2erom0wi+9jVrdaRmMyg72XYOKyzn+6hm9ds0QvdSRJk2l/aIszboIUm/dikAgLgDABoRAMiF/uD9Jcl3DY7LtCPzu4i/2dn2mXkO12Rqw595vJ51hvJLsg7esOG8X6Q8Vw2QPTEc/4SnMllvKf8FNXvGloo9YP8g/N+PJfnaidsd+i9XPV1TVLC+fTds/d9PpfPank3nDec7WKP6PVvc1kXtk79H8ibZgEzvi8uGZ2f5igQA4g4AaEQAoNsGLe2d72m+jw15XbQECl6K24i0eZZruuLpWjRwGTWiTjcUWpjgmDcyCiRoQOyp4dj3Pd7jaZby31uzZ2yXoSx0Y57mcgga7J6eIp/lDv2X5x6up1fcN3o5JfZ1JnWZh/Zp6Do6emvN6rdpOvdv+RPUbg327kxxHccc6ssDviIBgLgDABoRAOi2w2KeptzjMa+pYl6Xr31U1mL5s6abBnlcp9JusrThOz1cywoxj1hNsiHIHEv5DKY4X9NU2i+SbJpy0u/R6zV7xsYMZdEMuOnGMvNS5mNb69XXkgmmpR/2R3zuhsNxN4TPpm4s01/D+m2qJ4/Dz2xs+XdHUl6DywZKPwQAQNwBAI0IAHTZA0Nbd9NzXqaddFtHFqnWNQB1o4pZMfI5Z2nDl6a8Dg0yfTUc/2XC457N4JjqvKU8Nub8PfqqZs/YN8lvZ2dbPhMe8jgi9p3B9flt7pqumw/1Z1i+VanfpnoyKo0AbLPd8fECoN+hvkwKAIC4AwAaEQDool4xbySyz3N+puDck7bP3pU/m/PMj5mPadOLtJveTA2DE76DozrK1DTqck3C87XtLDzWhe/RnzV6xv5z6FPczbH/4iMY9cDh2brQ8u/XZVi+VanftnVRdaR3c0kJ3QV8modr6BGClwBA3AEAjQgAFNw6S1u32HN+pqDfaMvnmjvhajAv7m63tk0vbqS8hsuW419LcEzdgGNc3HYZjkM3Dvkh5imhszOoV7bpy3UKiOx36FMM5Nh/STvysleig+zNZ2ul+F9ftur1+4CYX7gMtbSJS3OsL78EAEDcAQCNCAB00QlDO/fVc16zxG1joOXyJziyO0E+Oyz5pBlNutlybD3vJDsNXxHzBitTEp7vY8v5HsyoXs2V7Kcul8VdS1n4XJqh16H/8i1lHhsNx94Tfma8Ja8sp4tXqX6b1uy8I3+m4B/3eB0uIy8/8DUJAMQdANCIAEA3PZP8plsOi31jIJ0K2VznMotNLzQtSnhcXcPvs/ifojpqOJ5OD52V8HxHLOeq6xD2ZVSvbCN66zJtXOv0pKUsVnvMz2UNw4cp8zhjOLZOkd/Z8v9HMizbKtVv2/IdE+E/33m+pmkO9eWmAACIOwCgEQGALtEfrqY1Frd7zu+q2KdyX2z5kT49YT6mTS8+pzj/sw7fDXGncx4X86YfSQOXGmj9ajnX3RnWrWFL3u9q8oytkXxHta11qKNpX0pErSerz50G4T5K+g2m6la/1zvctzTr3qapL+f5qgQA4g4AaEQAoFs2Wdq5uZ7zM41aHJE/gR4NqC5PmIdt04vLCY87IOZAr6anMY6n08BNwdxbkm5DjmNiH5XWk2HdOiWM5lLHLeVw3HN+tqBa2qnUc8QcFN0n2YworXr9Pi35burUtM0h3818VQIAcQcANCIA0C3nJL+RcQstbeoy+TNi61iKfA5Y8hlKeNybDt8LOx2PpQHWqI2LdLrpnpRlraPSfljO9UDGdctWXmdq8ow9lWyWMIhyzKGebkhx/J1ifgHxXv4E37NSxfr90uG+LcrgOi475DtbAADEHQDQiABAl7wxtHEXPee1y5CXBjyaU7JfS2PqaVKmTS90Tbkk68UNOHwn6LFtm+r0h0GNqBGcGvCZ56GsDzqc6/SM69ZPYTSXbVmG8QzyvCH2DaV6Mzr+aEseAxmWa9Xq9yzJfqp/lLeWfF8KAIC4AwAaEQDoEtsP5k2e8zMFPVpHIS5LkYdt04uk0y7PO3wnXDX8/XxpTDP9JdHTzQc9lvUHy7leyrhuLRRGc4nYl2U4kkGe3yW7zXp0GnZU0E7Xn3wh2bz4qHr9dpnqP9Cl6zjMVyUAEHcAQCMCAN1i+sGsI6dmeM7PNlLJR9DDtgNwkp2PdaTmL4dzX9v2d1p+O6QRLDIFUwc9l/Mqh3MdzLhu7bLkP16TZ8wW9PYdkHIZIbw/xfEHxbwRVrPtmJdhmVaxfo9Zjncvo+s47FCW8wQAQNwBAI0IAHSJabOYF57zWubQpuqIsf6U+dg2vZiT4JjbHc79U/hZDR7pepX3JXq6sK4lOpphUOCC5Vw/51C3blnO4VhNnjHTsgxvMshvv0NdnZPi+KMOx7+QcZlWsX5/thxvVUbXMS7dCZoCAIg7AKARAYDUP5hPes7LtkZd2h2Qm0ybXjxNeMxbDueuGw2ZprI+l0bgZ2kO9/WTdDe4ZJu6n9XGI0UzW/LdZVw9kmyDUc+kO9Obq1y/F1uO9Saj61jhcC9XCQCAuAMAGhEA6BLbWmcbPOd3T+yjpaakzKNf/AdHexwCFe1pQhpBJN3JXdc8nF6g+5pmt3VXtvX7ntfkGdtmKYflnvObK9nuMj7d4fj3qN+x6/c+yW6av8k1S77P+JoEAOIOAGhEAKCbTGu2abCu12NeLiOVfIy6tAUVFiQ4psv6et/DAIQGTTS40tPF+7pVst1p2sVtyznsrMkzZlrH8EsG+R2RbEfwuWwqs4r6Hbt+37Zcz6wMrmGuRC9r0Uyr+ZoEAOIOAGhEAKCbrhvatgee81praUt1MxwfoxOvGPJ4mfCYtlFReUxTjeOi5VyfZpz/TDEHRXTKb09NnrEvhnK47DkvLVPbDtzbUuZx2XL8t9Tv2PXbNrL7fkbXccZSjnf4igQA4g4AaEQAoNt+GNq2I57zOm5pS897yse0hudowmPadgHWtKlA99U2Kuxyxvkfle5MgS2a/3KuM7YRieMZP1+aDlG/Y9fvNZL/KGUddWkKmOrLpPl8RQIAcQcANCIA0E22nb9XeM7vqSU/H5vYDFjyWJbwuLYNUPLYoCSOt9K9Kds6Xdc02lA3NeqryTO2V8xTgX2vg/pKsp0CbAvG6jXNoX7Hrt/HLWXan8F1XLWU4T6+IgGAuAMAGhEA6Lb9Yh5143Na7zQxT7Mc95TPHslmfcHvDt8FvQW6tz8l342YXO+BpuEaPWOmHeqfeM7LtjHQtYzbjCynN1e9fj83HO9xBtew0nIND/l6BADiDgBoRACgCO4Y2rWbnvPaZGlHD3vKxxQsupriuBMl+y6wbYz0X0b56oizT9L94FYR2NYxPOYxrynSGPFnCtz7GL13z1KvtlO/Y7Pt3n40g3r5ylJXZgkAgLgDABoRAOgyW2Blj+f8zlva0YU5XNOWFMe27chbtO8C27lOyShf01qAur7qvBo9Y7Yd6td6zOt4Dnn1Wp6vyQzrVZXrt2339jWer8G0G722cyv5egQA4g4AaEQAoAhWW9q1RYa/1ZFCdyVeQOSN+N8BvN2g5Zpsa/FpgHV5xH8r28jLX104Vw3cmKbzbq/ZMzYq5kCfr2UZlog5uO5rhOdGS526Sf1OxLR7+2/xu3zHUktd2cpXIwAQdwBAIwIARWEKrNjWhmxOzXbdYGe2pQ0d9XRNphFFHyx/ezD83NOI/+6y5mVWUy11uu/GmH/zoQvfW/cN+V2q4TNm2uTJ1zqGOsLQ9GLgrsfrOWupU3kGvqpUv03T0J97PH996WTa6OggX4sAQNwBAI0IABSJKbBi2tjjUPiZ4zHy2irZ7ADe7kHCa1offkZHV0ZNX7/j8F2wKYP7pCNg34fHXxXj727m/L1l2lVbA8JTClDndeTtOWkEvvRefw3ShSDNzyAvXRvRNMLtlKd8LhryeCGNjbJ8MQVJJ3O+x1Wp3wOW67ji8RpM6wGPSrHk+awCAHEHADQiAFBAunZdkqmDzSDfa2kEZ1yNSTY7gLeyrXe5O+LvFktjrTr9zIjh+Kccvgt8jy7c2HJuDyXebuZHLefa5/E8lxnKXgOvMwtQ53Udv28SvVah73UFhyT7QPcOw/HfeC73OZbruZXz/axK/bbtXL7X0zWYRtoflmLJ+1kFAOIOAGhEAKCA1kn8tSGbQT4NesbdyfezZD+yyLaG5+oOf6PT2Zs7NF9Lefzm6LPZnq6ndQMWHUE3PebfL7ec66Cn89TATdS0109iX2c0D7MNwZDWoIjPUV22KdbzPNT3qICaBi59L2GwU4qxy3jV6rdtBOmQh2sYMRx/R8G+m7rxrAIAcQcANCIAUECmtSG/R/ygbP6A3x8zL9u0yGFP13RI4o3EmiGNoKD+t1fiNr3Wts6eprGU16HBkMctxxuX5CO7TNN8D3gocy2z5xHHfyf+ArlpnXO4b76n6L4y5DOR8tjLJHoN1ifSWCPVtxti3lRmRhfua9nrt44Wt208tDplHtsjjvvVw7Gr8qwCAHEHADQiAFBApvUbH7Z9dnZLkOBOgrz25BT0uGFpp1t37NXgztPw3+soH9dRPPscf1gnnYapI6Rag1LPJN2UVNNouRcpy3uqRK8x+liKMVW86ZPjffvlKb9Zlnw+pji2aUqtBnT6Mig/fXZMu2w/6tJ9LXv9HpRsNwE7INFrdM4t6HdT3s8qABB3AEAjAgAFZRrt09y0RgMWm+XPlG8daZQk0GgKKj71eE3vxW1aq442ettyrXGml2qZjIv7yCDXEXB6Ti/a/v62+Nls5bnhHDcmPKZe15OIY56WvwPFRTDpeM98rZU4bMljPOFxt4Z1ttMzuzPD8rMF2fZ38d6WuX7vcqiPSdoA/Zur0vll0dECPp/dfFYBgLgDABoRACigmTF+HLZOMUyyxphtWuRxj9f1O8F1JQluLBD7mmzNpKPVdO3DDW1BCP3RrQHLg/JvMPR3+O990bUVv0Scnwam40591fVOOwWKdTThuoLWedf79Vv8BHauOeQTZ+Sernd6KeJYGrwbyLj8Ri3X0831B8tcv7c41MllMY+5JuL8dbToohJ8P+X9rAIAcQcANCIAUEC2jS7a07cEP6CbVliOvdbjdf2IcU06umcoZRl+k/jBUlt6IfE3Q3KxVKIDPB/C/26jAbST8m+QWMvyhPgZJZqVy47lf99Tfp8d8tKRtbbd4zXIvTfiePrvRnIqv2eG63hZgPtb1vqt9/expZ5ccjzWYFh/O23etLlE3095P6sAQNwBAI0IABSQBkxsm0S0/vBPM1rnsJgDiD5Hzrj+6P0ifnYi1hFfz8RP0FKnsWe9W7OucffAcA7XpRHQbR0RODP8dxc71Bn9/2ekuGvntVrgUOc1aLXEQ14DMe67Bv50inlzJ3l9HnQU4yZpBK1+RNRffa7yChZPt1zD8YLc47LWbw1gnhTzdGldemOt/D1NWtfC1BHdJ+TPMhjtL0K2SvlGJ+b5rAIAcQcANCIAUGB7HNo1DZ6k3UzHFEy44/maTNNHm+mq+N9IRoOObyR+wFKDFbekMXU9zwCDBmueSLIgqwYNdEMnXatvWsnqvE75jdp0RoMlm3J6tjTY9ChBud+TxjTjvINRtvU7VxTsPpe1fmu7dEj+Xfs2TtLRuBpwXSrlltezCgDEHQDQiABAwemoHQ0g6uiuifDHok5h1JFUAyW9Jh0lpaOovrZd07Ecrkmn1h8J0k1prI/3KzwHTbqD+Hj4346FZd/b5bLSYK8GaTSg+yg8x4m2c9YNlcbCc9Yga9k3yNBRjRekEeSeCP+p9WWBxzxsu943XwjoplgHwzrxpaW+6D8/hP/+lDQCNVNormpVv/vD+34iPL+nbef/K2zjtP3WjcH0Bcqiit2/PJ5VACDuAIBGBAAA1Iptg6pXFBEAADAg7gCARgQAAGRm0NJXuEARAQAAA+IOAGhEAABAZo5Y+gqs1QcAAEyIOwCgEQEAAJl5KG7rXQIAAHRC3AEAjQgAAMiEbsD029BPGKeIAACABXEHADQiAAAgExst/YRzFBEAALAg7gCARgQAAGTijLDeJQAASIe4AwAaEQAAkIlxQx9Bp5NPp4gAAIAFcQcANCIAAMC7GZY+wguKCAAAOCDuAIBGBAAAeLfZ0kc4QxEBAAAHxB0A0IgAAADvLlv6CEMUEQAAcEDcAQCNCAAA8O69pY8wjSICAAAOiDsAoBEBAABeLbT0D8YpIgAA4Ii4AwAaEQAA4NVBS//gCkUEAAAcEXcAQCMCAAC8emPpH+yiiAAAgCPiDgBoRAAAgDcjDv2DvRQTAABwRNwBAI0IAADwYkOQJhz6B6+FDXsAAIAb4g4AaEQAAEAii6URsNTRlg8c+gWt6VOQTgdpOEjrg7QmSIsoUgAA0Ia4AwAaEQAAkMiYxAtY2hIb+QAAgHbEHQDQiAAAgERWSGPkpK+0nCIFAABtiDsAMPp/RYUXVFPuNFwAAAH2dEVYdE1hdGhNTAA8bWF0aCB4bWxucz0iaHR0cDovL3d3dy53My5vcmcvMTk5OC9NYXRoL01hdGhNTCI+PG1zdHlsZSBtYXRoc2l6ZT0iMTZweCI+PG1mZW5jZWQgY2xvc2U9InwiIG9wZW49InwiPjxtZnJhYz48bXJvdz48bWk+dDwvbWk+PG1pPmg8L21pPjxtaT5lPC9taT48bWk+bzwvbWk+PG1vPi48L21vPjxtaT5wPC9taT48bWk+cjwvbWk+PG1pPm88L21pPjxtaT5iPC9taT48bW8+LjwvbW8+PG1vPi08L21vPjxtaT5zPC9taT48bWk+aTwvbWk+PG1pPm08L21pPjxtbz4uPC9tbz48bWk+cDwvbWk+PG1pPnI8L21pPjxtaT5vPC9taT48bWk+YjwvbWk+PG1vPi48L21vPjwvbXJvdz48bXJvdz48bWk+dDwvbWk+PG1pPmg8L21pPjxtaT5lPC9taT48bWk+bzwvbWk+PG1vPi48L21vPjxtaT5wPC9taT48bWk+cjwvbWk+PG1pPm88L21pPjxtaT5iPC9taT48bW8+LjwvbW8+PC9tcm93PjwvbWZyYWM+PC9tZmVuY2VkPjxtbz4mI3hENzs8L21vPjxtbj4xMDA8L21uPjwvbXN0eWxlPjwvbWF0aD5sNmbFAAAAAElFTkSuQmCC\&quot;,\&quot;slideId\&quot;:266,\&quot;accessibleText\&quot;:\&quot;open vertical bar fraction numerator t h e o. p r o b. negative s i m. p r o b. over denominator t h e o. p r o b. end fraction close vertical bar cross times 100\&quot;,\&quot;imageHeight\&quot;:42.24},{\&quot;mathml\&quot;:\&quot;&lt;math style=\\\&quot;font-family:stix;font-size:16px;\\\&quot; xmlns=\\\&quot;http://www.w3.org/1998/Math/MathML\\\&quot;&gt;&lt;mfenced open=\\\&quot;|\\\&quot; close=\\\&quot;|\\\&quot;&gt;&lt;mfrac&gt;&lt;mrow&gt;&lt;mn&gt;0&lt;/mn&gt;&lt;mo&gt;.&lt;/mo&gt;&lt;mn&gt;5&lt;/mn&gt;&lt;mo&gt;-&lt;/mo&gt;&lt;mn&gt;0&lt;/mn&gt;&lt;mo&gt;.&lt;/mo&gt;&lt;mn&gt;4&lt;/mn&gt;&lt;/mrow&gt;&lt;mrow&gt;&lt;mn&gt;0&lt;/mn&gt;&lt;mo&gt;.&lt;/mo&gt;&lt;mn&gt;5&lt;/mn&gt;&lt;/mrow&gt;&lt;/mfrac&gt;&lt;/mfenced&gt;&lt;mo&gt;&amp;#xD7;&lt;/mo&gt;&lt;mn&gt;100&lt;/mn&gt;&lt;mo&gt;=&lt;/mo&gt;&lt;mn&gt;20&lt;/mn&gt;&lt;mo&gt;%&lt;/mo&gt;&lt;mspace linebreak=\\\&quot;newline\\\&quot;/&gt;&lt;mspace linebreak=\\\&quot;newline\\\&quot;/&gt;&lt;/math&gt;\&quot;,\&quot;base64Image\&quot;:\&quot;iVBORw0KGgoAAAANSUhEUgAABAgAAAERCAYAAAD2eJXuAAAACXBIWXMAAA7EAAAOxAGVKw4bAAAABGJhU0UAAAEQxIizuwAALlRJREFUeNrt3QHkVef/OPBHJklGJklmJMnMxMxPJolMkvmIZCaZmExmviLzlSQjk5nJSGYyiUkm+YqZycxEMplkZJKZRCbJR8b3f57/536+u90+95zn3nvOufee83rx+M637jnP89zn6Xmf9z3nOSHk+29BAQCslwCAgAcAsF4CAAIeAMB6CQAIeHQPAFgvAQABj4AHAKyXAICAR8ADANZLAEDAI+ABAOslACDgEfAAgPUSABDwCHgAwHoJAAh4BDwAYL0EAAQ8Ah4AsF4CAAIeAQ8AWC8BAAGPgAcArJcAgIBHwAMA1ksAQMAj4GGyvZKVtboBsF4CAAh4aK/VWbmblVO6Aibe9w1bU6yXAIAEQQO9nJUPsnI2K9ey8ldWZrPyJCuPs3IvKxey8klWtmZlkWEydiuysq/z3cRxuUGXYE5PtA8auKZIEAAAEgQN8XxWDmXlVkKbe8v9rHyclVWGS6HrQ/TvoOUn3Yw5PdHWh7nEjAQBAICAZ+LEi4i/ctoY/+y7MPfL42zO34sB7+Hg18d+ttSQHIhlr65uPXN6csW+/KWha4oEAQAgQTDF1uUEqn9m5WBWVi7wuVezciLnwiL+Sr7G0HnGlRqSA/dczLWaOT35Pm7wmiJBAABIEEypbVl52KdNF7OyPOEY8YLhap9jPMjKJsPnfzaEeu4eOKqrW8ucnnwbG34RLUEAAEgQTKHdWfm7T3vODHisJVm5HPrfnrzFEPr/ztWQHIjf6Yu6upXM6cm3LCu/SxAAAAh4JslMTluujBD43uhzzPiL5mstH0NrQz13D5w3XVvJnJ4OXybOY+slAICApxbx9tZ+O2c/ysrqEY4dd+V+0ufYf4S51/C11cmaEgSbTdfWMaenw8wA89h6CQAg4KlcDOb/zGnHoRLOcSzn+JdbOn5W5FxklfVYQbxYO2iqtnJsmdPT8T3dlyCQIAAAJAgmyaWcNsSLjCUlnCPelpz3arX3Wjh+ei+wbppSmNOt/p6KkgXWSwAAAU+l3i5ow5ESz3U85zxxF/QXWjR2li5wcbXXlMKcbo39Pf31ZchP7EgQAAAIeCoVf0W8G/JvUV9d4vleKuivUy0aOwd72n4nK4tMKczpVoibk3bvD3E7zN2RIUEAACDgGZuPCur/fQXnvFJw8bKuBeNm0QIXcQdMJ8zpVojz/2pPH23s/JkEAQCAgGcsnsvKvYL676/gvAcKznm6BeNmX3j2mfDFphPmdCsc6emfY11/JkEAACDgGYt3E+q/uoLzri04Z9zVf2XDx83NnjZ/ZCphTrfC6z19cy08/WiRBAEAgIBnLH4sqPvtCs99p+Dchxs8ZnaEZ99H/7yphDndeHFj0t965n7v4xcSBAAAAp7avZhQ9zMVnv9swbl/a/CY+amnrR+bRpjTrXAqFD/uIUEAACDgqd2BhLpX+cq99xLO/3oDx8sbC7QzJgi2h3LeS097mdOTbXtPX/ynz9+TIAAAEPDU7mJC3d+o8PxbEs5/rIHjpSj4j7+yfh3mNjF8xfTCnG6EFeHpzSPjf6+UIJAgAAAkCCZB3BBrtqDef4enN84q2+KEvrvWsLGyPqHNveVBVs51EgarTDfM6an0bU8/zOT8XQkCAAABT602JtT7jxrq8VfCBc2yBo2VL4dIEPSW61k5GKrZiZ7pZU5Prt43S3xZ8PclCAAABDy1ej+h3hdrqMelhHq81ZBx8mLn4ui/JZV4rMtZ2WwKYk5PrDVZedjV9t8TEiQSBAAAAp5anQ3j3e183tehPc8sf1JicqC3/JyVDaZiq5nTk6n3jSUbEz4jQQAAIOCp1c8J9T5SQz2OJ9TjQgPGyPIw977z/1ZcTmTlOVOylczpyfPRkIkRCQIAAAFPrWYT6v1ODfXYk1CPuw0YI4dqSA7Ml6vBZoZtZE5PlnhHT/cjRXHvkNQNIiUIAAAEPLVZmnihWcdzwjtD2rP2i6Z8jMx0gv743vN4y3F8M8HjCpMEcTO6daZma5jTkyW+zeFWV3sfDzgfJQgAAAQ8tdmceDGxrYa6bE+sy/oGX0i80rmo+riTQHhSUpLgniRBa5jTk+WznrYeGPDzEgQAAAKe2swkBvCbWnZhMyniL6tbs/J5Vv4Mo99JsNIUbTxzenJs7Wnn5SGOIUEAACDgqc07iQF8He8qfz6xLrtaOrYWdS7+royQJLiWlSWmaaOZ05MhbkbandS7H4ZL0EkQAAAIeGqzLzGAX1xDXZYk1mWvYRZez8r3QyYJvtZ9jWZOT4Zveto4M+RxJAgAAAQ8tfk0MYCvYxOxxYl1OWaY/U/caO73IZIE7+i6xjKnx6/3Lo6vRjiWBAEAgICnNqcTA/hJ6b9YvjDMnrK00yeDJAjimxOW67pGMqfH68Ws/NXVtpjAG+VxDgkCAAABj4uJnHLaMFtQvJvg4QBJAndiSBCY0+X7oadtG0c8ngQBAICAx8WEBMFQXg1zrzRM6ceYTFisyyQIzOnSHAzlJ+EkCAAABDwuJiQIhrZugCTBHt0lQWBOl+KVrDzpatMvoZx9HiQIAAAEPLU55WKikd7Iyt8JfXlOVzWOOV2/eCfOja72zIa5RF0ZJAgAAAQ8tTk5hRcTJw2zJIcS+vKRbmocc7p+J3rac6DEY0sQAAAIeGrz3hReTBwxzJL9mtCfa3VTo5jT9drc05bLJR9fggAAQMBTmz2JAXwdm9mlvjN9r2GWbEdCf85UXIfUZ+KntSw2p1s7p+OrQu+Ep18fulKCQIIAAGBaA56diQH80hrqsjSxLrsMs4HcGvPFmQSBOd3UOX22px07KziHBAEAgICnNtsSA/h1NdRlRWJdthlmAynai+BTCYJGJQjM6Xrs6mnDmYrOI0EAACDgqc3yxAD+zRrqsiWxLmsMs4GsD+PdQV6CwJxu2pxeFeYeJ5iv/+9ZeV6CQIIAAKAJAU/K6/B21FCPlOflY10XGWYDuy9B0JoEgTldve972vBGheeSIAAAEPDUKmWn+9011GNXQj3uGGJDuSBB0KoEgTldnQ966n+84vNJEAAACHhqdS6h3u/XUI99CfU4b4iVfpF+coznliAwp6dtTl+a0nG63XoJACDgSXEkod6na6hHyoXkUUNsKAdy+vRD3dM45rQEgQQBAICAZygpzwmfq6EeF8JkPDfdRHty+vRt3dM45rQEgQQBAICAZyjLEup9vYZ6XAvFm5ktNcRKTxBs1z2NY05LEEgQAAAIeIZ2o6DeszXUYXYCLmia6t2cfl2pexrJnJYgkCAAABDwDOXTMN53la9JOP9xw2tox/v06UNd01jmtASBBAEAgIBnKJsT6r6zwvOnvA5to+E1tH672nsrRHOZ083gNYcAAAKe2i3Kyv2Cup+o8PyfFZz7D0NrJL/16df9uqaxzGkJAuslAICAZ2ifF9T9SoXn/nmMFzJNtyr03yDO/gPNZk5LEFgvAQAEPEPZEIp3HF9cwXmXdY6dd+6XDa2hfdinTy/rmsYzpyUIrJcAAAKeoV0vqP9MBefcXXDOHw2rkdzs06+bdU0rmNMSBNZLAAABz1D2FtT/TAXnvBDGt5Fa08306dMfdE1rmNMSBNZLAAABz1DixmZ3c+r/OJR7S/ILWXmSc75bhtRI3+VCdw/EW7/d3t2ucWBOSxBYLwEABDxD2V/QhjJ3vj9YcK63K27r6qyczMqdrMyGuV3fT4Vq3w+/NCubsrKi4rYd7dOnH5mmrWNOVzunJQgkCAAAGhvwxF8cfwnV/wL4XCeI73eeqxW3842sPOhz7odZ2Vry+faFZ3/JjRcw8Xbs7SWfa1Ofdl0yRVvJnK5mTksQWC8BAFoR8MTdz/N2IX+3hHPk/dIYb1Gu8jb4VTkXEt0XFGX96rg7YWzEC7jXSzjXS1m5t8Dx42Z1y0zR1jKny53TEgTWSwCAVgU8H+a0I16AvjBiMP8w5/gfVty2kwnfVZkbuF1OPF8sR0Y4T7y9eqFfcG+E6h9pwJxu05yWILBeAgC0LuD5KqctF4c8Zrzd+Yec435ZQ7v+SLyYeFzS+f4aIEEQy/dZWTngOTaGhe8cuJKV5aYm5nSpc1qCwHoJANDKgOebnPacGuJ453KOd76mNj0Z4GK9jB3er4fBEgSxxNul3084dnxs4OOw8O3jp8Pcc+FgTpc7pyUIrJcAAK0NeD4vuABI+YU6/iKed6v9yRrb8yCkXUjEi+5FJZzvoyESBPPlt87nX+2qy5Ks7Oh8Lwvd1h13bt9lOmJOVzanJQislwAArQ544uvJ+t0qf79zEfviAp+Lm4IdyflsvMB9p+a2fJV4MfFdSeeLv+JfGSFJkFrixc+nwSMFmNNVz2kJAuslAEDrA564EdmZULxT+A+d8rDg78Zbk1ePoR1rw9yzyEUX2xtKPGf81f9URYmB2M8nwtwbDMCcrmdOSxBYLwEABDyZ9Vn5IuFiod8mYfFC+ZUxt2FbVh7l1HFnReeNjwrEXzufhNGSAo86F2PxV2D7DGBOj29OSxBYLwEABDxh7lneN8PcJnkXwtzz8jFAn+2U+N+3O392vPN3J+n53zWdC5t7nfrG/40b+62t4dzxon5Hp+/ipnFxI8O/uvputnNRE5+tvtrpw1OdhMCrphrm9MTNaayXAAACHgCwXgIAJYl3hp7sKvFx6kXT2BABDwBYLwGA4cTHQntf4f5vAQ8ASBAAAO2xZ4GYID7eOrV7rgl4AMB6CQAM5kCfmOAtAQ8ASBDAQpZn5ViY25AUgGY41iceuCTgAQAJAuj1fFaOhH9eZ/pwwuv7clY+yMrZrFwL/7ypKL7mOL6lKL5lJb4R5pOsbA2Tu/lWU9pB9V7rGis/hLk3cT3ujJXeNyHFDedmsrLYHB675zrfxWdZ+U9PO++Hudeq76y4fV/1iQViHab+TVQCHgCwXlKeZVk53Alau8fIJCYIYhLjUFZuJYzx3hID8fiK2VXawRRZnZWjWbk7xFiZvwCMF9mbzeHavdRJCjxKbN/vWdldch1eyMr3Oec8KuABAAkC6yXR0jC3a/WDPmNk0hIEhxZIYnSX+GffhblfImdz/t7jTkJkkXYwweKF9InOBf5/Syo/ZWWDOVy5mHT9JOe7i4mOj7JysM+fx7tDXi6hHq92kg7zx/17gYTEEgEPAEgQWC/bbUknML1fMEYmJUGwLiu/9Knjn522rOwTHJ/IudC4npU12sEEir/2D3vHQFGJF4lHzOHKxMdAbuf0/cedBMK8vX0SCfHvns7K+iHqsLiTjOnut3udBFH3OXYKeABAgsB62V4xaPxXJyBPuZCYhATBtk49FqrfxTC3oWKReAFxtc8x4t0Tm7SDCfJuePaX3ipKHHdLjP1S7c5JZsSET7+7N+L/fzPk3/nxQSdhsijn3/e4T8PxrPzR8/nfOsmA7v/vewEPAEgQWC/bKW6Q9eEAiYFJSRDszrlQOjPgseKF0OXQ/3blLdrBBHi/hsRAd7nc+ffB2B/dezn9HC/Yi/ZNWNQ5RtGdI7E/491f/+mU2zkJmFi+DnN3LFzvOcbLTZo4Ah4AsF5SLAacB8LwtyqPM0Ewk1OvK0MeMwbJN3La+pp2MEZv1ZwcGPZC3dh/1rsFF/SvDdjG7kTI2YIEQN5dB1s7x9zf82cnBDwAIEFgvWxXYiAGhHe6AtQfw9zzrCfCs8+hTlqCYGOY+0VwoTrF3cBXj3Ds+Dxvv43D4q98K7SDMVibcxEYbw//uHPBvTI8fYt5vK08/hIcbx//PDy9Id0g5V1zeGibQv4jIYeHHA/zn3+z851v7hzrfJh7A8TjznmfdPo07vHwTZh7jKx734L4FoPujWj/DE/vgSDgAQAJAutlw80/yxp3Av+gT8D85YQmCFaE/EchDpVwjmMh/5Zr7aBuCz1f/2v45xfgQcQLyZ8HTBA86FxIGvuDt/VeTl1+DcO/aWE+CbJrxDqe7qnTHgEPAEgQWC/bJe5QXvR86coJTRBcyqlPvOgoY1O1+OtZ3qvW3tMOarR/ge/u8zD6K/zicR8PkCQ4YQ4P7HxBn24c4djzd5TsHeEYr4dnHzsQ8ACABIH1kgXdnLAEwdsF9Snz1WzHQ3W/pjalHVRvaXj2daPHSjz+xvD07eV55XEY/dbzNo39bQVtPT/i8ecTBB+McIzeV0u+IuABAAkC6yX9fDtBCYL4q2LeZorxWdvVJZ7vpYK2n2p5O6jHRz3f17kKzrElpL82cZ85nOxGwfnXj3j8+bs/3h/y8/8Kz96VIuABAAkC6yV9XZigBMFHBXWp4p3dVwouZta1uB1Ub1HPBXXcYLCqzeOOJCYIzpvDSd4saOuFEs4xn9QZZgPJ+AhZ9yMYjb+bSMADANZLmpMgiO9hv1dQl/0VnPdAwTlPt7Qd1KP3tYZvVniu+LaDO6G6fUfaNvaL/u3cPOLxl3Qda5hNCr+uoe8FPABgvRxYvF11GjdKi4H74RaMkUlJELybMF5XV3DetQXnjLuIr2xhO6h//n1bw/n+FdLuIljc4jmcmgx5knPO30s4x6au4w36Jos3eurzi4AHAJiE9bL7l51pShK81RX8HZUgqMWPBfW4XeG5i35VPdzCdlC97ovMeCv5+hrOuSKk7UWwpcVzOHWNyDvf8RLOsXvIhE18bOXXnvq8LuABAMa9Xn4YpvOVa28tEEB/IkFQqRcTxuqZCs9/tuDcv7WsHdRjpqZx0etqwjjd3tI5nOpoqPbxgujkkImV3rtEvhTwSBAAwLjXy7yNqiY5STAT+v+69qkEQWUOJIzVvRWe/72E87/eonZQj09DebvdD+LLChIEbRv753LOMxvmfsUf1bXO8b4a4DOrwj+vRowlblK4QsAjQQAA41wvUwK1SUwS5CUH5ssHDRwjk5AguJgwZt6o8PxbEs5/rEXtoB7zu+9frvm8Kf9Gb2vpHE71Xaj2TQ3Lu443M8Dneu+k+JeAR4IAAMa9XsbA5vqUJQlSkgMx6FsiQVC6+EvbbEEd/g7l/CLXz+KE8XqtJe2gPvGX4Xj7+Js1n3dXwjh5pYVzeBD3Q7VvTdgX/rkbIXX/gc099bgp4JEgAIBJWS9jkuCXKUkSzCTUs6nJgUlIEGxM6P8/auiHvxIucJa1oB0030wo92K+jWP/Yc559pRw/PkNH1P3D1jUSQiUvQ+CgAcArJetShKkJAd+yMrSBo+RcScI3k/4Di7W0A+XEurxVgvagQTBzZbO4UE8yDnHzIjHXt91rI2Jn/l3Tx3OCngkCABgEtfLFROcJNiZUK/4jHDTf20dd4LgbBjv7ufzvg6jPcPclHbQfDtLHqdtHPt5exBsG/HYX3WOcz3x76/OyuOu8z/q/H8CHgkCAJjI9XISkwQpyYEfQztuxR53guDnhO/iSA39cDyhHhda0A6ab0/B+Njd0jlcVlJk6wjHfXmIRMO3Pec/JOCRIACASV8vJylJkLJB10+hPc9pjztBMJvwfbwzARdNsdxtQTtovmM5Y+NJGHy/lTaO/X0VJQh+CP8kqFNs7zn3rVDtZpACHgCwXjYqSbBbcmCiEgRLE76Pup6ZT7mrpN/mbU1pB+1wLmdsnG3pHB7U6pxz7BjymHu76vhywt+Pbze43XPuN9s8sCUIAGD61stxJglSkgPxVtnnWzZGxpkg2Jx4cbGthn7YnliX9Q1uB+1wM2dcbG7pHB7G5T7HPzjEsdaFf96MkPo4xpFQ/0aQAh4AsF5WkiT4teYkgeTAZCYIUt4iEcumGvphlAudprSD5luWMyaut3gOD+P/+hz/6hBr4vydAFcSP7MmPP1ox2zn/xPwSBAAwFSul3UmCd5OOE8M6Ja3dIyMM0HwTmJAX8cjH88n1mVXg9sxjK2J52tCacLmjnm34c+0eA4P66sR+/LF8M8dHb931sYUF0P9m0AKeADAell5kuBWxUmClOTAtRYnB8adINiXGNAvrqEfliTWZW+D2yFB0PwEQb8L2qstn8PDiomPhZLdD7KyoeCzMVFxv/P3/+gkC1K81XOu38PgG0sKeADAejmR62WVSYKU5MD1licHxp0g+DQxoK9jQ73FiXU51uB2SBA0O0HwXPjnOffe8nrL5/AoVnUu0nvP8zjM/bLfvedBfAxgf3j61ZDx8YKXBmhj78aEbwUkCACgQetlFUmClNte42aJLxgiY00QnE4M6CdlvsTyRYPbIUHQ7ATB3j7t+tIcLmUd+2GIMfVtGCxJ3bsx4WVLmAQBADRxvSwzSSA5IEFQ5cXF6Qa3Q4Kg2QmCnxdo070R/y1s89hfSLw74G7iGrRzwGPHuw+ehKdf2bjWEiZBAABNXS/LSBLsSQzMVhgaEgQSBBIELUoQvNGnTTvM4dIt6syLE50xc6lTzmXl31l5bcjj9r5W8fgIdYyPRcS3+5zqqeP5znE3TeMglyAAgOatl6MkCfYmfO5XyQEJAgkCCYIWJgh+WqA9p8zhqdH79om4qeEwb4aIb1dIfRQiJtP/T8Az+ABTFEVRlCpKWxME0aohkgTvJvz9m5IDE5cgONWQi4umtINmmgkLb9C62ByeCkvDs48tvDPgMV7vXPAPGov8Hcp964MEgaIoiqJIEAydJLidmCSQHJjeBMHJKby4ONngdtA88eKyd4f9+Gq9l8zhqXG8p/4/Dvj5ozl9EV/HeDgrL4e5RyNieTUrn3WSA/N/b6sEgQSBoiiKIkEwLUmConJLcmBiEwTvTeHFxZEGt4PmORGe/UV4izk8Ndb3XKj/3bmYTxEfQbic0w9Xs7Iy5/MxKfCo83fjHQxLJAgEp4qiKIoEwSQkCX4fMTmw0jXCxCYI9iR+j4tr6IfUd6jvbXA7aJaFNibcZw5P1djv3S/gs8TPPR8W3neie3+B5QN+vx9IEAhOFUVRFAmCSUkS3BmiD3+THJj4BMHOxO9yaQ39sDSxLrsa3A6aY/kC/24eNYenauy/3VPvPzsX/kXiL/1Xctp/b8C18aeupIIEgaIoiqJIEExlkuD3zmeY7ATBtsTvc10N/bAisS7bGtwOmuPbUM/GfMZ+NeLjAX/01PvdxM+eL2j/oI+Y7Or67EQ/ruc1hwDQrvUyXvD/mdCmu5IDU5MgWJ4Y0L9ZQz9sSazLmga3g2Y43PNdf2MOT93Y79074nri5/5d0PbPhqhLvCNhfh+EGQEPAEgQTIqUtxUM+ksL400QhPD0Blz9yo4a+mFHQj1iXRc1vB1Mt97v/2IN5zT2y/XyAn26IeFzrxe0PSbYlw1Zp9/Cs68XFvAAgATB2OwNgz+mIUkwHQmCXxO+y9019MOuhHrcaUE7mF6vdebr/Pccd7B/robzGvvl6t1cMOXxkEUJ38MoG1Re7BzjCwEPAEgQjFvqLtmSBNOZIDiX8D2+X0M/7Euox/kWtIPp9FJ4+hGsH0N9r6Uz9qtb7x5k5YWEz30QijftHeXOiQuh2r0sBDwAYL1M8k4YfcNHSYLJThAcSfgO6whKTyfU42gL2sH0iRvH3e76fn8Ow99K3uY5PG5xP4d7PfU9kPC5eJfIHxUnaCQIAECCYCqSA/FtBSlvN5AkmNwEQcpzw+cmoB+KnqNuSjuYLvGi8pfw9PvtX6i5DsZ+Ob7oqWvqawWL9ueJdyEsHrFul4JHDABAgmAKkgOrOuV3SYKpTRAsS/jurtfQD9dC8eZmS1vQDqZHHHPdz6vfCuN5DZ2xP7pXF6jvxsTPXilo96cl1O9G51gfCHgAQIKgbm8PkByYF//7tiTBVCYIuoPPfmW2hjrMlnCB05R2DGJrGP0xoGkpFyZo3sZfhL8LT2++N87Xu7Zx7Jfpek9dv078XMprJjeU2Le7J7gPJQgAoIHrZUpy4HafQFiSYHoTBJ+G8b67fE3C+Y+3qB0SBJOdIIibzV3sqld8/vzFMdepjWO/LL2bKz4aINlT9OaG30qo3wtdx9sq4AEACYK67E6o728FgVP8s1uSBFOXINic8J3trPD8Ka9H29iidkgQTHaCoPutAXFTu3UTUKc2jv0yxDsA7vfU89AAn/+8hqTITNfxFocJJkEAAM1ZL8tIDkgSTG+CYNECQXJvOVHh+T8rOPcfLWuHBMHkJgi6d+qPm8+9OiH/jrRx7Jehd2PCm2Gw1xEW/ftdxi/+x8M/e1wIeABAgqByKb/8xOTAygGOKUkwXQmCqOiXsCsVnvvnEi9smtIOCYLJSxCc6JmX/1fTeeO/p3sSLlzbNvZHtaGEC/qrOW1+MmCyoZ/5/REm+hWHEgQA0Iz1cmdCHW8NmByYt0KSYKoSBBtC8Q7kVdzeuqxz7Lxzv9zCdkgQTFaC4EhXPR5nZVON5/6mc97XjP1S9W5M+M0Qx3iQ0+YfS6hj994Obwl4AECCYFqTA5IE05cgWChg7i0zFZyz6PGWH1vcDgmCyUgQfBie/lX4zRrPPX+H1w1jv1T7e+oYkz7DbDT5MKfdZ0pMTP0VyrkbQYIAAKyXY0sOSBJMX4Jgb0Fdzoyh/Ttb3A7G792e77HOX3Hjr8fzv1B/YOyXZkV49pf/w0Me605Ouw+OWM/nwtzeDfFYnwt4AECCoCozicmBFSUHZJIEk58giL9Q3c2pS/yVrcxblOPru54UjMM2t4Px6k2kvl3zRez8a2Pj2Fpu7Jfmq/Dsq3uH7ZOLOW0fdbwc6DrWegEPAEgQNCU5IEkwPQmCaH9BffaXeK6DBed6WzsYk+3h6efq36vx3K92JQdiOWfsl2bjAnUc5a6QU6GaxzmWhn/uHvhmWiaNBAEATNd6OROKN5K6WVFyQJKgv4sTliCIv0D+Eqr/RTDePpt3e+5V7WBMtoS5X9rnv8N/1TDn1oa5Z/m/XeDf6a3Gfmn9/GtPHS+NeMy8/Rd2jHDcj8M/G0uuFfAAgARBE5MD3UmCXyUJ/qcoYfJwDHXaUDBeyvhu8n55jLcsv6wdjMHGkL/xXN3ld2O/NP9aoI6jXnw/H/o/YrFryGO+3nWM4wIeAJAgKNtbCcmBX2tKDkgSPG1pwncT/3wcu1d/mFOne2Hu2eNhrSq4CPtQOxiDeGv/gzBZb244bOyXYqH6Hi3p2Gf69MEwF/fLO0mh+PnfsrJEwAMAEgR1Jwdu1Jwc6E4S3Gh5kmBf4kXCljHV76ucOl0c8pgx2fFDznG/1A7GYG3nonnSXu34krFfirM9dbxb4sX3uj7r7KCPcsSNEr/vfHY2zN0FIuABAAmC0sTnH59MaHKgO0nwS0uTBMvC0xuR5ZXvxljPb3LqdWqI453LOd557WAMVod/NoSbpPKdsV+KzaG82//7OR5G26Qx3k32n2lf8yQIAGBy18vtU5AcaHOSYGVWrgx4sXAyjOdRg+jzgguC5YltvlzQPu1gHP/+3A6TlxyIZbexP7L4b+bNnnpeqeA8ccPGqwv0SXxkpWgvhvjn3Y/cHZ7WySRBAACTuV6mJAd+mZDkwKBJgj1TPBZiAL6jE0Q/CsNvWHYkK2+Gct9lniL+EvZXn3rdz8pHWXlxgc+t6dS532fjc8HvaAdjEJ/BvxEmMznwIJSfEGzj2D8Unt3TparNE/u9pSd+l+8t8H3GzQhPhacfTzg8zRNKggAAJnO9jMHPvSlKDqQmCeLrtFZP0Xf/Rlb+7ASHsxVdRMx2jh/Ps6uGNsWNvs6E4rcu/NApRbvBnxvTd9qUdjC8eLF2dUKTA7F8ZuyX0tbeZOyJGtaxKzn/Xv+YlWvh6ddo/reTfNkp4AEACYKq9EsSTGpyoChJEJ8PfnHKvvutNV9Q1Hl3xfqsfBGGex1cDIzjr2avTMB31JR2MLjFE5wc+G8N46oNY793r4SYSH2+pnPHV0CmvhHjTCeZIeABAAmCSq3rSRLEC+/lU9Bn8bbf61OeHGiL+CtsfNzh46xcCHOv5Yq/2M12Svzv250/O975u4u0A4z9im3tasN8qfsRtfiWhL2dREW8A+5xpx4xKXMpzD3+8FKTBpMEAQBM/no5nySYluRAb5IgJgfWGEYAIOABAOvl6NZOWXJg3vJO3QEAAQ8AWC8BAAQ8AGC9BAAQ8ACA9RIAQMADANZLAAABDwBYLwEABDwAYL0EABDwAID1EgBAwAMA1ksAAAEPAFgvAQAEPABgvQQAEPAAgPUSAEDAAwDWSwAAAQ8AWC8BAAQ8AGC9BAAQ8ACA9RIAQMADUIZXsrJWN2C9BAAQ8ADttTord7NySldgvQQAEPDAqF7OygdZOZuVa1n5KyuzWXmSlcdZuZeVC1n5JCtbs7JIl43diqzs63w38d+gDboE6yUAgIAHhvF8Vg5l5VbC+O4t97PycVZW6cZC14fo30HLT7oZ6yUAgIAHhhETA3/ljOf4Z9+FubsJZnP+Xry74HBwR0E/W2pIDsSyV1djvQQAEPDAINZl5Zc+Y/jPrBzMysoFPvdqVk7kJAvir+RrdO8zrtSQHIiPGEjQYL0EABDwQLJtWXnYZ/xezMryhGPEJMDVPsd4kJVNuvl/NoR67h44qquxXgIACHgg1e6s/N1n7J4Z8FhLsnI59H/kYIvu/v/O1ZAciN/pi7oa6yUAgIAHUszkjNsrQx5zWVZu9DlmvEvhtZb3+dpQz90D5w1vrJcAAAIeSLExzP2qv9CYfZSV1SMce32Yew3iQsf+I8y9hq+tTtaUINhsiGO9BAAQ8ECReIH+Z86YPVTCOY7lHP9yi/v9Saj2sYKYgDloiGO9BAAQ8ECKSznjNSYOlpRwjvioQd7rEt9rYb/3Jk1uGopYL62XAICAB8bl7YLxeqTEcx3POU98s8ELLer3peHZhMlewxHrpfUSABDwwDjEOwPuhvxb1FeXeL6XCubGqRb1/cGett/JyiJDEuul9RIAEPDAOHxUMFa/r+CcVwoSEuta0O8xEdCbmDlgOGK9tF4CAAIeGIfnsnKvYKzur+C8BwrOeboFfb8vPLvPw2JDEuul9RIAEPDAOLybMFZXV3DetQXnjLv6r2x439/safNHhiPWS+slACDggXH5sWCc3q7w3HcKzn24wf2+o6etj7LyvOGI9dJ6CQAIeGAcXkwYp2cqPP/ZgnP/1uC+/6mnrR8bjlgvrZcAgIAHxuVAwjit8pV77yWc//UG9vsbC7QzJgi2h7k3SoD10noJAAh4oFYXE8bpGxWef0vC+Y81sN8vheI7J74Oc5sYvmKYYr0EABDwQJXiK/ZmC8bo352/V5XFCfPkWsP6fX1Cm3vLg6yc6yQMVhm6WC8BAAQ8UKaNCWP0jxrq8VdCkmJZg/r9yyESBL3lelYOhmreLgHWSwAAAQ8t837CGL1YQz0uJdTjrYb0edwU8u8SEgTdyZPLWdlsOGO9BAAQ8MCwzobxvsFg3tehPfsQfFJicqC3/JyVDYY11ksAAAEPDOrnhDF6pIZ6HE+ox4UG9PfyrDyqMEEwX05k5TnDG+slAICAB1LNJozRd2qox56EetxtQH8fqiE5MF+uBpsZYr0EABDwQIKliReadTz7vzOkPWu/aMr7fCbM7bfwn6z8FObeTPC4wiRB3GBynaGO9RIAQMADeTYnXmRuq6Eu2xPrsr6h30V81eMrYS5R8nEngfCkpCTBPUkCrJcAAAIeyDOTeIG5qWXJikkR75bYmpXPs/JnGP1OgpWGPNZLAAABDyzkncSLy2U11OX5xLrsaul3FZMFMaFzZYQkwbWsLDHssV4CAAh4oNe+xAvLxTXUZUliXfb62sLrWfl+yCTB17oP6yUAgIAHen2aeFFZx8aAixPrcszX9j9x88jfh0gSvKPrsF4CAAh4oNvpxAvKSZkrsXzha3vK0k6fDJIgiG9OWK7rsF4CAAh4YJoTBKd9bQuKdxM8HCBJ4E4MrJcAAAIekCBoqFfD3CsNU/oxJhMW6zKslwAAAh6QIGimdQMkCfboLqyXAAACHohOSRA00htZ+TuhL8/pKqyXAAACHohOTmGC4KSvLcmhhL58pJuwXgIACHggem8KEwRHfG3Jfk3oz7W6CeslAICAB/YkXpTXsZnd4sS67PW1JduR0J8zugnrJQCAgAd2Jl6UL62hLksT67LL1zaQW0HCBeslAICABwpsS7woX1dDXVYk1mWbr20gRXsRfKqLsF4CAAh4YHniRfmbNdRlS2Jd1vjaBrI+eCsE1ksAAAEPJEh5Hd6OGuqR8rx8rOsiX9nA7ksQYL0EABDwQJGUne5311CPXQn1uOPrGsoFCQKslwAAAh4oci5hjL5fQz32JdTjvK9rKKdz+vSk7sF6CQAg4IHoSMIYreNX5tMJ9Tjq6xrKgZw+/VD3YL0EABDwQJTy7P+5GupxIUzGXghNtCenT9/WPVgvAQAEPBAtSxij12uox7VQvEHhUl9X6QmC7boH6yUAgIAH5t0oGKOzNdRhNow/SdFU7+b060rdg/USAEDAA/M+TRinayo8/5qE8x/3NQ3teJ8+fahrsF4CAAh4oNvmhHG6s8Lzp7zicKOvaWj93lThrRBYLwEABDzwlEVZuV8wTk9UeP7PCs79h69oJL/16df9ugbrJQCAgAd6fV4wTq9UeO6fw/iSE023KvTf9NH+A1gvAQAEPPCMDaH4LQKLKzjvss6x8879sq9naB/26dPLugbrJQCAgAf6uV4wVmcqOOfugnP+6GsZyc0+/bpZ12C9BAAQ8EA/ewvG6pkKznkhjG9zxKab6dOnP+garJcAAAIeyBM3K7ybM1Yfh3IfM3ghK09yznfLVzLSd7nQ3QPxcQ6PbGC9BAAQ8ECh/QXjtcyd7w8WnOvtitu6Oisns3InK7Nh7k0Op7KypsJzLs3KpqysqLhtR/v06UeGONZLAAABD6SIvzz/Eqr/Vf+5zoV5v/Ncrbidb2TlQZ9zP8zK1pLPty88e3dGTErERyy2l3yuTX3adcnwxnoJACDggUHENxrkvVng3RLOkXf3QHzsoMrb4FflJAe6kwRl3UmwO+HfgZiUeb2Ec72UlXsLHD9uQLnM0MZ6CQAg4IFBfZgzZuMF6AsjXqA/zDn+hxW37WTCvCxzU8bLieeL5cgI54mPTCx0V8aNUP0jDWC9BAAQ8NBgX+WM24tDHjM+wvBDznG/rKFdfyRerD8u6Xx/DZAgiOX7rKwc8Bwbw8J3DlzJynJDGeslAICAB0b1Tc7YPTXE8c7lHO98TW16MsDFehlvbbg+YIIglvgIxPsJx46PDXwcFn4k5HSY2+sBrJcAAAIeKMXnBRf1Kb9Qx1/E8261P1ljex6EtIv0eNG9qITzfTREgmC+/Nb5/KtddVmSlR2d72WhRzXi2xh2GbZYLwEABDxQhfjKwX63yt/vXMS+uMDn4kZ/R3I+Gy9w36m5LV8lXpx/V9L54q/4V0ZIEqSWmND4NHikAOslAICAByoWNxc8E4p3//+hUx4W/N34uMHqMbRjbZjbX6DoYntDieeMv/qfqigxEPv5RJh7gwFYLwEABDxQm/VZ+SIhAdBv4794ofzKmNuwLSuPcuq4s6LzxkcF4h0MT8JoSYFY95hgiXd22GcA6yUAgIAHxio+E/9mmNsk70KYe14+XrjOdkr879udPzve+buLJqj+azrJinud+sb/jRv7ra3h3PGifken7+JGkHEjw7+6+m62k6iI+yVc7fThqU5C4FVDD+slAICABwCslwAAAh4AsF4CAAh4AMB6CQAg4AEA6yUAgIAHAKyXAAACHgCwXgIACHgAwHoJACDgAQDrJQCAgAcArJcAAAIeALBeAgAIeADAegkAIOABAOslAICABwCslwAAAh4AsF7qHgBAwAMA1kvrJQAg4AEA66X1EgAQ8ACA9dJ6CQAIeADAemm9BAAEPABgvbReAgACHgCwXlovAQAAAAAAAAAAAAAAAAAAAAAAAAAAAAAAAAAAAAAAAAAAAAAAAIAp9P8A88/WzsiVG84AAAGHdEVYdE1hdGhNTAA8bWF0aCB4bWxucz0iaHR0cDovL3d3dy53My5vcmcvMTk5OC9NYXRoL01hdGhNTCI+PG1zdHlsZSBtYXRoc2l6ZT0iMTZweCI+PG1mZW5jZWQgY2xvc2U9InwiIG9wZW49InwiPjxtZnJhYz48bXJvdz48bW4+MDwvbW4+PG1vPi48L21vPjxtbj41PC9tbj48bW8+LTwvbW8+PG1uPjA8L21uPjxtbz4uPC9tbz48bW4+NDwvbW4+PC9tcm93Pjxtcm93Pjxtbj4wPC9tbj48bW8+LjwvbW8+PG1uPjU8L21uPjwvbXJvdz48L21mcmFjPjwvbWZlbmNlZD48bW8+JiN4RDc7PC9tbz48bW4+MTAwPC9tbj48bW8+PTwvbW8+PG1uPjIwPC9tbj48bW8+JTwvbW8+PG1zcGFjZSBsaW5lYnJlYWs9Im5ld2xpbmUiLz48bXNwYWNlIGxpbmVicmVhaz0ibmV3bGluZSIvPjwvbXN0eWxlPjwvbWF0aD7GL/i1AAAAAElFTkSuQmCC\&quot;,\&quot;slideId\&quot;:266,\&quot;accessibleText\&quot;:\&quot;open vertical bar fraction numerator 0.5 minus 0.4 over denominator 0.5 end fraction close vertical bar cross times 100 equals 20 percent sign\\n\\n\&quot;,\&quot;imageHeight\&quot;:43.68},{\&quot;mathml\&quot;:\&quot;&lt;math style=\\\&quot;font-family:stix;font-size:16px;\\\&quot; xmlns=\\\&quot;http://www.w3.org/1998/Math/MathML\\\&quot;&gt;&lt;mfenced open=\\\&quot;|\\\&quot; close=\\\&quot;|\\\&quot;&gt;&lt;mfrac&gt;&lt;mrow&gt;&lt;mn&gt;0&lt;/mn&gt;&lt;mo&gt;.&lt;/mo&gt;&lt;mn&gt;5&lt;/mn&gt;&lt;mo&gt;-&lt;/mo&gt;&lt;mn&gt;0&lt;/mn&gt;&lt;mo&gt;.&lt;/mo&gt;&lt;mn&gt;6&lt;/mn&gt;&lt;/mrow&gt;&lt;mrow&gt;&lt;mn&gt;0&lt;/mn&gt;&lt;mo&gt;.&lt;/mo&gt;&lt;mn&gt;5&lt;/mn&gt;&lt;/mrow&gt;&lt;/mfrac&gt;&lt;/mfenced&gt;&lt;mo&gt;&amp;#xD7;&lt;/mo&gt;&lt;mn&gt;100&lt;/mn&gt;&lt;mo&gt;=&lt;/mo&gt;&lt;mn&gt;20&lt;/mn&gt;&lt;mo&gt;%&lt;/mo&gt;&lt;mspace linebreak=\\\&quot;newline\\\&quot;/&gt;&lt;mspace linebreak=\\\&quot;newline\\\&quot;/&gt;&lt;/math&gt;\&quot;,\&quot;base64Image\&quot;:\&quot;iVBORw0KGgoAAAANSUhEUgAABAgAAAERCAYAAAD2eJXuAAAACXBIWXMAAA7EAAAOxAGVKw4bAAAABGJhU0UAAAEQxIizuwAAMIBJREFUeNrt3QHkVtf/OPAjkyQjk0xmJMnMxMxXZhKZTCaRzCQTM5OZrzHzNcmMTGYmI5nJJCaZ5CtmJjMTk5lkRmYmk5FJkozf/57/cz/ffXr6PPee53nuvc997n29OL7zreeec89zTud938+954ZQ7P9KCgBgvQQABDwAgPUSABDwAADWSwBAwKN7AMB6CQAIeAQ8AGC9BAAEPAIeALBeAgACHgEPAFgvAQABj4AHAKyXAICAR8ADANZLAEDAI+ABAOslACDgEfAAgPUSABDwCHgAwHoJAAh4BDwAYL0EAAQ8Ah4AsF4CAAIeAQ/t9mRWNugG6JTlWXnUegkAIOCBVOuy8ntWjusKmDvLsvJ0VvZm5UhWTmflx6zczdeb09ZLAAABT9OeyMobWTmVlR+y8lceoN7Lyp2s3MjK2ax8kJXteVDLbK3JyoH8u4njcrMuwZxuvbVZ2RMGCb3v8u9jeI35Oys/ZeXzrOyyXgIACHia8HBW3s7KzwnnPFz+zMr7of23v7bB5Qn6d9zynW7GnG6tf4XB3QFXCvr/jzxpEBMCK62XAAACnibFi4i/Cs4x/tlXYfDL492Cvxd/iXw3+PVxlG0NJAdi2a+re8+cbpfHs3I4K78V9HW8e+BEVp61XgIACHhmYWMYPN866hest8LgFthhT2XlaMGFRfyVfL2h84CLDSQHbriY6zVzul02hcG+AX+XzNn/ZOUR6yUAgIBnVnZk5daIczqXldUJx4gXDJdGHONmVp4zfP5nc2jm7oHDurq3zOn2iBf7x0sSA7fyxMDKDp23BAEAIEEwh/YWBK4nxzzWiqxcCKNvT95mCP1/pxtIDsTv9DFd3UvmdHvsC4NkStFc/SJ0c38HCQIAQIJgzuwqOJeLEx5zVRjssj3qV7Knez6GNoRm7h44Y7r2kjndDo/kc7BojsbEwR7rJQCAgKcNtoTBL4BLncftrKyb4tjxWdt7I459PQxew9dXxxpKEGw1XXvHnG6HuIfDbyXz89KU34f1EgBAwFOZGMz/UXAeb1dQx3sFx7/Q0/GzpuAiq6rHCuLF2lumai/Hljk9e/EOjtsl8/RUVpZbLwEABDxtcT4Uv3N7RQV1xNuSi16t9moPx8/wBdZVUwpzujNeTVgjPrReShAAAAKeNnmp5BwOVVjXkVD8/O0jPRo7K5e4uNpvSmFOd8I7CevDB9ZLCQIAQMDTJvFXxN9D8S3qVT4X+3hJfx3v0dh5a+jc4zPKy0wpzOm595+EtaGP/SJBAAAIeFqu7Feur2uo82LJxcvGHoybZUtcxB00nTCn594bCevCeeulBAEAIOBpm4eycqOk/a/VUO/BkjpP9GDcHAgPPhO+3HTCnJ5rexLWhF+y8rD1UoIAABDwtM0rCe2v47VbG0rqjLv6r+34uLk6dM7vmEqY03Ntcxj9SsmFcjcrT1ovJQgAAAFPG31b0vZrNdZd9k7wdzs8ZnaGB99H/7CphDk9t1YnnH8sfX/dqAQBACDgaanHEtp+ssb6T4Xy23C76ruhc33fNMKcnmtfJvT9j4aoBAEAIOBpq4MJba/zlXsp7wd/poPj5dklzjMmCF4I1byXnv4yp2djX8J5d/XcJQgAADoS8JxLaPuzNda/LaH+9zo4Xs6H8l9ZPw+DTQyfNL0wp1vtkazcTDjvs4anBAEAIOBpa8ATX7F3t6Tdf+d/ry7LE/ruh46NlU0h7ZfGxSVefJzOEwaPmm6Y063ySeI8luyTIAAABDytDXi2JLT7egPt+CvhgmZVh8bKpxMkCIbL5TDY6GydqYc5PVMb8/Mp6/cLhqcEAQAg4GlzwPN6QrvPNdCO8wnteLEj4+SxxIuJ1PJ3fuGx1RTEnJ6JU4lzdYfhKUEAAAh42hzwpAS2Jxtox+ehP88sf1BhcmC4fB8G72Cnv8zpZm1MnJvXDU0JAgBAwNP2gOf7hHYfaqAdR0I/NveK70i/XWOCYKEczcpDpmQvmdPN+jhxTn5oaEoQAAACnrYHPHcT2v1yA+1IeT3Y7x0YI283kBxYKJeCzQz7yJxuTkzCpSb8nhtxjLhp4b/DYAPSn/Lj3ctL/O/f8kRKTETszspK6yUAgICnDisTA9smnhPeHdKetV8252NkVxg8m/3frHwXBm8muFNjkiDe1rzR1OwNc7pZ+xL7+87Q51Zk5c2sXJlgTsfEQdxDYt73HJEgAAAkCFpma2jPxlovJLZlU0fHTnwt3JP5RdX7eQLhXkVJghuSBL1hTjfrbOI5nln0mbiJ5B8Vze3vwvy+NlGCAACQIGiZXWG6W2O7emHTFvGX1e1hcGvxtBcU8U6CtaZo55nTzYmPF6Qm8eLrSNeHwWM/Vd8lFO/C+Lf1EgBAwDOtlxMD0CbeVf5wYlv29HRsLcsv/i5OcSHxQxjc2kx3mdPN2THG3DuelVuh3j1HPrdeAgAIeKZxIDHwXN5AW1YktmW/YRaeycrXPbmIwJxuq/fD5L/4X8jKwTC4k2PxpoMxERg3Fo3JwPgmkl/HPPYp6yUAgIBnUh8mBp1NbCK2PLEt7xlm//PiBBcQTe1gjznd9Tl9boK590lWHhuznrgvybUx6jg0J/0nQQAASBC0zInEgLMt/bcQYPOPlXmfjHOREt+csFrXdZI53Zxx3j4S9xDZOuU8/2KM+p61XgIACHj6cDFxwjBbUrybYJxnnN2JIUFgTk9uVRjvLSIbGv5+r4b2vz5SggAAkCBwMSFBUKOn8ouRlH6MyYTlukyCwJyeyDgbFL5Ycd3fJNZ70HoJACDgcTHRbxvHSBLs010SBOb0RPYkntt3NdQd9zC4m1D3r9ZLAAABzziOu5jopPj88d8JfXlaV3WOOd2MV8Js39DwXmL9262XAAACnlTH5vBi4phhluTthL68rZs6x5xuxgeJ57ampvrjcVOSgJ9aLwEABDypXp3Di4lDhlmyKwn9uUE3dYo53YyURzlu1dyGLxPa8Kf1EgBAwJNqX2IA38RmdqnvTN9vmCXbmdCfu1pwITXPZbk53cs5nTKuv665DS8l9m9bk4ASBACABEHL7E4MMFc20JaViW3ZY5iN5ecZX5xJEJjTXZzTKeP6bM1tWDPn/StBAABIELRM6qu6NjbQltRgd4dhNpayvQg+lCDoVILAnO5PgiD6LaEdh62XAAACnhSrEwP45xtoy7bEtqw3zMayKcx2B3kJAnO6i3P6o5YkCM4ktOOk9RIAQMCTKmUn7J0NtCPlefnY1mWG2dj+lCDoTYLAnG5GymsOv2ygHR8mtOOM9RIAQMCTKmWn+70NtGNPQjt+M8QmclaCoFcJAnO6fnsTzu18A+3Y35J2SBAAAHQk4Dmd0O7XG2jHgTC/v4S1XdFF+rEZ1i1BYE7P65x+IeHcfmygHSmbUkoQAAAIeJIdSmj3iQbakXIhedgQm8jBgj59U/d0jjldv5QNGP9qSaJCggAAQMCTLOU54dMNtONsaMdz0120r6BPX9I9nWNON+NuKN9foW7PJ/TxOeslAICAJ9WqhHZfbqAdPyQE2ysNscoTBC/ons4xp5vxVUI/P1xzG7YntOEL6yUAgIBnHD+VtPtuA20o+zXusuE1saId19fqnk4yp+uX8gaB7S1IEJxoaf9JEAAAEgRzHOjW+a7y9Qn1HzG8JnZkRJ/e0jWdZU7Xb1fCOdb9CE/KIwZt3WdEggAAkCBoqa0Jbd9dY/0pr0PbYnhNbNSu9t4K0V3mdP0eysq9knM8XnMbUjYpfNF6CQAg4BnHsqz8WdL2ozXW/1FJ3dcNran8MqJfX9M1nWVON+N8yXlerLn+lETMGuslAICAZ1wfzzDQ/X6GFzJd92gYvUGc/Qe6zZyu3/6S84x3GDxUY/2vl9T/s/USAEDAM4nNoXzH8eU11LsqP3ZR3U8YWhN7c0SfXtA1nWdO1y++haFsM8Y63xTyaUndH1kvAQAEPJO6XNL+XTXUubekzm8Nq6lcHdGvW3VNL5jT9fskzO4tAt+U1P0v6yUAgIBnUmW3y56soc6zYXYbqXXdqF3Wv9E1vWFO129TyfneDIM9IaoWj1m0SeIV6yUAgIBn2oDz94L23wnV3pL8SEmA+7MhNdV3udTdA/HWb49s9GscmNP1O1fyb//LNdS5raTO/dZLAAABz7ReKzmHKne+fyvM9h3i67JyLCu/hcFzxHHX9/hasjrfDx+fWX4u1L+z+OERffqOado75nS9czp6quS8L9dQZ9GbIuYhESNBAABIEMyB+Ivjjw0Eng/lQfyoei7VfJ7PhsGtv0vVfSsr2yuu70B48JfceAETb8euehOz50ac13lTtJfM6Xrm9LATobn9HuJdH38V1PW89RIAQMBTlbj7edEu5K9UUEfRL43xFuU6b4N/tOBCYvEFRVW/Ou5NGBvxAu6ZCup6PCs3wtK/YK4yRXvLnK52Ti9lzYi5t1CuZWVFRXW9UVDPp9ZLAAABT9XeLDiPGAQ/MmUwf6vg+G/WfG7HEr6rKjdwu5BYXyyHpqgn3l691C+4P4X6H2nAnO7TnB7lxZL6j1VQx+qs/DHi+HGur7ReAgAIeOrwWcG5nJvwmPF256JXczXx69f1xIuJOxXV99cYCYJYvs7K2jHr2BKW/vXyYn5BAeZ0dXO6yOGSNrw65fFPjThuTBqss14CAAh46vRFwfkcn+B4pwuOd6ahc7o3xsV6FTu8Xw7jJQgWXo32esKx42MD74elbx+Pz0Q/ZFpiTlc+p8scL2nDwQmP+05BcmCj9RIAQMDThI9LLgBSfqGOv4gX3Wp/rMHzuRnSLiTiRXcV7y9/Z4IEwUL5Jf/8U4vaEp9j3pl/L0vd1h13bt9jOmJO1zanUxwpaUtMrDyaeKwVYfRjFFfCYO8R6yUAgICnMfH1ZKNulf8zv4h9bInPxU3BDhV8Nl7gvtzwuXyWeDHxVUX1xV/xL06RJEgt8eLnw+CRAszpuud0qj0lyYu7+YX/9hGJi5hAiBsS/jri8/EuoZVzOv4kCAAACYI5F4PVk6F8p/Bv8nIrlP+CNotnZjeEwbPIZRfbmyusM/4CeDzUkxiI/Xw0zOeviJjT8zqnU8UNQj8JxW+RWGhf3Efkv1n5tqSv41tPnrNeAgAIeNpgUx7w3grjX8zeyS+Un5zxOezIyu2CNu6uqd74qED8tfNemC4pcDu/GIu/AttnAHN6dnM6VUzgxccOrk845+O/GV9mZZv1EgBAwNNG8ZbY58Ngk7yzYfC8fAzQ7+Yl/ve1/M+O5H93WYvavz6/sLmRtzf+b7xld0MDdceL+p1538VN4+JGhn8t6ru7+UVNvD35Ut6Hx/OEwFOmGuZ06+b0OJ7OymthcPfGV/k8vzPUz1fyfv4gDF6f2LVEoAQBACBBAABYLwGAkeKdoccWlfg49bJ5PBEBDwBYLwGAycTHQof3bvqPgAcAJAgAgP7Yt0RMEB9vndtHLQU8AGC9BADGc3BETPCigAcAJAhgKauz8l4YbEgKQDe8NyIeOC/gAQAJAhj2cFYOhX9eZ3qr5e19IitvZOVUVn4I/7ypKL6yNL61JL5lZeFNJdtDezff6sp5UL+nF42Vb8I/b+i5Fx58E1LccG5XVpabwzP3UP5dfJSV/w6d559h8Fr13TWf32dh9CueN8z7xBDwAID1kuqsysq7edC6eIy0MUEQkxhvZ+XnhDE+XGIgHl8x+6jzYI6sy8rhrPw+wVhZuACMF9lbzeHGPZ4nBW4nnt+vWdlbcRseycrXBXUeFvAAgASB9ZJoZRjsWn1zxBhpW4Lg7SWSGItL/LOvwuCXyLsFf+9OnhBZ5jxosXghfTS/wP+/isp3WdlsDtcuJl0/KPjuYqLjnay8NeLP490hT1TQjqfypMPCcf9eIiGxQsADABIE1st+W5EHpn+WjJG2JAg2ZuXHEW38Iz+XtSOC46MFFxqXs7LeedBC8df+Se8YKCvxIvGQOVyb+BjItYK+fz9PICzYPyKREP/uiaxsmqANy/NkzOJ+u5EniBbXsVvAAwASBNbL/opB47/zgDzlQqINCYIdeTuWat+5MNhQsUy8gLg04hjx7onnnAct8kp48JfeOkocdyuM/UrtLUhmxITPqLs34v9/NRTf+fFGnjBZVvDve9yn4UhWrg99/pc8GbD4//tawAMAEgTWy36KG2S9OUZioC0Jgr0FF0onxzxWvBC6EEbfrrzNedACrzeQGFhcLuT/Phj703u1oJ/jBXvZvgnL8mOU3TkS+zPe/fXfvFwrSMDE8nkY3LFweegYT3Rp4gh4AMB6SbkYcB4Mk9+qPMsEwa6Cdl2c8JgxSP6p4Fyfdh7M0IsNJwcmvVA39h/0SskF/dNjnuPiRMipkgRA0V0H2/Njvjb0Z0cFPAAgQWC97FdiIAaEvy0KUL8Ng+dZj4YHn0NtW4JgSxj8IrhUm+Ju4OumOHZ8nnfUxmHxV741zoMZ2FBwERhvD38/v+BeG+6/xTzeVh5/CY63j38c7t+Qbpzyijk8sedC8SMh7044HhY+/3z+nW/Nj3UmDN4AcSev917ep3GPhy/C4DGyxfsWxLcYLN6I9o9w/x4IAh4AkCCwXnbcwrOscSfwN0YEzJ+2NEGwJhQ/CvF2BXW8F4pvuXYeNG2p5+uvhH9+AR5HvJD8fswEwc38QtLYH/9cbxS05UqY/E0LC0mQPVO28cRQm/YJeABAgsB62S9xh/Ky50vXtjRBcL6gPfGio4pN1eKvZ0WvWnvVedCg15b47j4O07/CLx73zhhJgqPm8NjOlPTplimOvXBHyf4pjvFMePCxAwEPAEgQWC9Z0tWWJQheKmlPla9mOxLq+zW1K+dB/VaGB183+l6Fx98S7r+9vKjcCdPfet6nsb+j5FzPTHn8hQTBG1McY/jVkk8KeABAgsB6yShftihBEH9VLNpMMT5ru67C+h4vOffjPT8PmvHO0Pd1uoY6toX01yYeMIeT/VRS/6Ypj79w98frE37+3+HBu1IEPAAgQWC9ZKSzLUoQvFPSljre2X2x5GJmY4/Pg/otG7qgjhsM1rV53KHEBMEZczjJ8yXneraCOhaSOpNsIBkfIVv8CEbn7yYS8ACA9ZLuJAjie9hvlLTltRrqPVhS54mengfNGH6t4fM11hXfdvBbqG/fkb6N/bJ/O7dOefwVi441ySaFnzfQ9wIeALBeji3erjqPG6XFwP3dHoyRtiQIXkkYr+tqqHdDSZ1xF/G1PTwPmp9/XzZQ379D2l0Ey3s8h1OTIfcK6vy1gjqeW3S8cd9k8exQe34U8AAAbVgvF/+yM09JghcXBX+HJQga8W1JO67VWHfZr6rv9vA8qN/ii8x4K/mmBupcE9L2ItjW4zmcukYU1Xekgjr2TpiwiY+tXBlqzzMCHgBg1uvlm2E+X7n24hIB9AcSBLV6LGGsnqyx/lMldf/Ss/OgGbsaGhfDLiWM0xd6OodTHQ71Pl4QHZswsTJ8l8inAh4JAgCY9XpZtFFVm5MEu8LoX9c+lCCozcGEsbq/xvpfTaj/mR6dB834MFS32/04Pq0hQdC3sX+6oJ67YfAr/rR+yI/32RifeTT882rEWOImhWsEPBIEADDL9TIlUGtjkqAoObBQ3ujgGGlDguBcwph5tsb6tyXU/16PzoNmLOy+f6HhelP+jd7R0zmc6qtQ75saVi863q4xPjd8J8W/BTwSBAAw6/UyBjaX5yxJkJIciEHfCgmCysVf2u6WtOHvUM0vcqMsTxivP/TkPGhO/GU43j7+fMP17kkYJ0/2cA6P489Q71sTDoR/7kZI3X9g61A7rgp4JAgAoC3rZUwS/DgnSYJdCe3sanKgDQmCLQn9f72Bfvgr4QJnVQ/Og+7bFaq9mO/j2L9VUM++Co6/sOFj6v4By/KEQNX7IAh4AMB62askQUpy4JusrOzwGJl1guD1hO/gXAP9cD6hHS/24DyQILja0zk8jpsFdeya8tibFh1rS+Jn/jPUhlMCHgkCAGjjermmxUmC3Qntis8Id/3X1lknCE6F2e5+vuDzMN0zzF05D7pvd8XjtI9jv2gPgh1THvuz/DiXE//+uqzcWVT/7fz/E/BIEABAK9fLNiYJUpID34Z+3Io96wTB9wnfxaEG+uFIQjvO9uA86L59JeNjb0/ncFVJke1THPeJCRINXw7V/7aAR4IAANq+XrYpSZCyQdd3oT/Pac86QXA34ft4uQUXTbH83oPzoPveKxgb98L4+630cewfqClB8E34J0Gd4oWhun8O9W4GKeABAOtlp5IEeyUHWpUgWJnwfTT1zHzKXSWjNm/rynnQD6cLxsapns7hca0rqGPnhMfcv6iNTyT8/fh2g2tDdT/f54EtQQAA87dezjJJkJIciLfKPtyzMTLLBMHWxIuLHQ30wwuJbdnU4fOgH64WjIutPZ3Dk7gw4vhvTXCsjeGfNyOkPo5xKDS/EaSABwCsl7UkCa40nCSQHGhngiDlLRKxPNdAP0xzodOV86D7VhWMics9nsOT+NeI41+aYE1cuBPgYuJn1of7H+24m/9/Ah4JAgCYy/WyySTBSwn1xIBudU/HyCwTBC8nBvRNPPLxcGJb9nT4PCaxPbG+LpQubO5YdBv+rh7P4Ul9NmVfPhb+uaPj13xtTHEuNL8JpIAHAKyXtScJfq45SZCSHPihx8mBWScIDiQG9Msb6IcViW3Z3+HzkCDofoJg1AXtpZ7P4UnFxMdSye6bWdlc8tmYqPgz//vX82RBiheH6vo1jL+xpIAHAKyXrVwv60wSpCQHLvc8OTDrBMGHiQF9ExvqLU9sy3sdPg8Jgm4nCB4K/zznPlye6fkcnsaj+UX6cD13wuCX/cV7HsTHAF4L978aMj5e8PgY5zi8MeGLAQkCAOjQellHkiDltte4WeIjhshMEwQnEgP6tsyXWD7p8HlIEHQ7QbB/xHl9ag5Xso59M8GY+jKMl6Qe3pjwgiVMggAAurheVpkkkByQIKjz4uJEh89DgqDbCYLvlzinG1P+W9jnsb+UeHfA74lr0O4xjx3vPrgX7n9l4wZLmAQBAHR1vawiSbAvMTBbY2hIEEgQSBD0KEHw7Ihz2mkOV25ZPi+O5mPmfF5OZ+U/WXl6wuMOv1bxyBRtjI9FxLf7HB9q45n8uM/N4yCXIACA7q2X0yQJ9id87orkgASBBIEEQQ8TBN8tcT7HzeG5Mfz2ibip4SRvhohvV0h9FCIm0/8l4Bl/gCmKoihKHaWvCYLo0QmSBK8k/P2rkgOtSxAc78jFRVfOg27aFZbeoHW5OTwXVoYHH1t4ecxjPJNf8I8bi/wdqn3rgwSBoiiKokgQTJwkuJaYJJAcmN8EwbE5vLg41uHzoHvixeXwDvvx1XqPm8Nz48hQ+78d8/OHC/oivo7x3aw8EQaPRsTyVFY+ypMDC39vuwSBBIGiKIoiQTAvSYKy8rPkQGsTBK/O4cXFoQ6fB91zNDz4i/A2c3hubBq6UP87v5hPER9BuFDQD5eysrbg8zEpcDv/u/EOhhUSBIJTRVEURYKgDUmCX6dMDqx1jdDaBMG+xO9xeQP9kPoO9f0dPg+6ZamNCQ+Yw3M19of3C/go8XMPh6X3nVi8v8DqMb/fNyQIBKeKoiiKBEFbkgS/TdCHv0gOtD5BsDvxu1zZQD+sTGzLng6fB92xeol/Nw+bw3M19l8aavcf+YV/mfhL/8WC878x5tr43aKkggSBoiiKokgQzGWS4Nf8M7Q7QbAj8fvc2EA/rElsy44Onwfd8WVoZmM+Y78e8fGA60PtfiXxs2dKzn/cR0z2LPpsqx/X85pDAOjXehkv+P9IOKffJQfmJkGwOjGgf76BftiW2Jb1HT4PuuHdoe/6C3N47sb+8N4RlxM/95+Sc/9ogrbEOxIW9kHYJeABAAmCtkh5W8G4v7Qw2wRBCPdvwDWq7GygH3YmtCO2dVnHz4P5Nvz9n2ugTmO/Wk8s0aebEz73TMm5xwT7qgnb9Et48PXCAh4AkCCYmf1h/Mc0JAnmI0FwJeG73NtAP+xJaMdvPTgP5tfT+Xxd+J7jDvYPNVCvsV+t4c0FUx4PWZbwPUyzQeW5/BifCHgAQIJg1lJ3yZYkmM8EwemE7/H1BvrhQEI7zvTgPJhPj4f7H8H6NjT3Wjpjv7717mZWHkn43BuhfNPeae6cOBvq3ctCwAMA1sskL4fpN3yUJGh3guBQwnfYRFB6IqEdh3twHsyfuHHctUXf7/dh8lvJ+zyHZy3u53BjqL0HEz4X7xK5XnOCRoIAACQI5iI5EN9WkPJ2A0mC9iYIUp4bPt2Cfih7jror58F8iReVP4b732//SMNtMPar8clQW1NfK1i2P0+8C2H5lG07HzxiAAASBHOQHHg0L79KEsxtgmBVwnd3uYF++CGUb262sgfnwfyIY27x8+o/h9m8hs7Yn95TS7R3S+JnL5ac94cVtO+n/FhvCHgAQIKgaS+NkRxYEP/7miTBXCYIFgefo8rdBtpwt4ILnK6cxzi2h+kfA5qXcrZF8zb+IvxVuH/zvVm+3rWPY79Kl4fa+nni51JeM7m5wr7d2+I+lCAAgA6ulynJgWsjAmFJgvlNEHwYZvvu8vUJ9R/p0XlIELQ7QRA3mzu3qF3x+fPHZtymPo79qgxvrnh7jGRP2ZsbfqmgfY8sOt52AQ8ASBA0ZW9Ce38pCZzin/0sSTB3CYKtCd/Z7hrrT3k92pYenYcEQbsTBIvfGhA3tdvYgjb1cexXId4B8OdQO98e4/MfN5AU2bXoeMtDi0kQAEB31ssqkgOSBPObIFi2RJA8XI7WWP9HJXVf79l5SBC0N0GweKf+uPncUy35d6SPY78KwxsTXg3jvY6w7N/vKn7xPxL+2eNCwAMAEgS1S/nlJyYH1o5xTEmC+UoQRGW/hF2sse7vK7yw6cp5SBC0L0FwdGhe/quheuO/p/sSLlz7NvantbmCC/pLBed8b8xkwygL+yO0+hWHEgQA0I31cndCG38eMzmwYI0kwVwlCDaH8h3I67i9dVV+7KK6n+jheUgQtCtBcGhRO+5k5bkG6/4ir/dpY79SwxsTfjHBMW4WnPO3FbRx8d4OLwp4AECCYF6TA5IE85cgWCpgHi67aqiz7PGWb3t8HhIE7UgQvBnu/1X4+QbrXrjD6ydjv1KvDbUxJn0m2WjyVsF5n6wwMfVXqOZuBAkCALBeziw5IEkwfwmC/SVtOTmD89/d4/Ng9l4Z+h6b/BU3/nq88Av1G8Z+ZdaEB3/5f3fCY/1WcN5vTdnOh8Jg74Z4rI8FPAAgQVCXXYnJgTUVB2SSBO1PEMRfqH4vaEv8la3KW5Tj67vulYzDPp8HszWcSH2p4YvYhdfGxrG12tivzGfhwVf3Tton5wrOfdrxcnDRsTYJeABAgqAryQFJgvlJEESvlbTntQrrequkrpecBzPyQrj/ufpXG6z7qUXJgVhOG/uV2bJEG6e5K+R4qOdxjpXhn7sHvpiXSSNBAADztV7uCuUbSV2tKTkgSTDauZYlCOIvkD+G+n8RjLfPFt2ee8l5MCPbwuCX9oXv8N8NzLkNYfAs/5dL/Du93divrJ+vDLXx/JTHLNp/YecUx30//LOx5AYBDwBIEHQxObA4SXBFkuB/yhImt2bQps0l46WK76bol8d4y/ITzoMZ2BKKN55ruvxq7Ffm30u0cdqL74fD6Ecs9kx4zGcWHeOIgAcAJAiq9mJCcuBKQ8kBSYL7rUz4buKfz2L36jcL2nQjDJ49ntSjJRdhbzoPZiDe2n8ztOvNDe8a+5VYqr2HKzr2yRF9MMnF/eo8KRQ//0tWVgh4AECCoOnkwE8NJwcWJwl+6nmS4EDiRcK2GbXvs4I2nZvwmDHZ8U3BcT91HszAhvyiuW2vdnzc2K/EqaE2/l7hxffGEevsuI9yxI0Sv84/ezcM7gIR8ACABEFl4vOP91qaHFicJPixp0mCVeH+jciKylczbOcXBe06PsHxThcc74zzYAbWhX82hGtT+crYr8TWUN3t/6McCdNt0hjvJvvvvK95EgQA0N718oU5SA70OUmwNisXx7xYOBZm86hB9HHJBcHqxHO+UHJ+zoNZ/PtzLbQvORDLXmN/avHfzKtD7bxYQz1xw8ZLS/RJfGSlbC+G+OeLH7l7d14nkwQBALRzvUxJDvzYkuTAuEmCfXM8FmIAvjMPom+HyTcsO5SV50O17zJPEX8J+2tEu/7MyjtZeWyJz63P2zzqs/G54JedBzMQn8H/KbQzOXAzVJ8Q7OPYfzs8uKdLXZsnjnpLT/wuX13i+4ybER4P9z+e8O48TygJAgBo53oZg58bc5QcSE0SxNdprZuj7/7ZrPyRB4d3a7qIuJsfP9azp4Fziht9nQzlb134Ji9lu8GfntF32pXzYHLxYu1SS5MDsXxk7FdyrsPJ2KMNrGMXC/69/jYrP4T7X6P5f3nyZbeABwAkCOoyKknQ1uRAWZIgPh/82Jx999sbvqBo8u6KTVn5JEz2OrgYGMdfzZ5swXfUlfNgfMtbnBz4vwbGVR/G/vBeCTGR+nBDdcdXQKa+EeNknswQ8ACABEGtNg4lCeKF9+o56LN42+/lOU8O9EX8FTY+7vB+Vs6GwWu54i92d/MS//ta/mdH8r+7zHmAsV+z7YvOYaE0/YhafEvC/jxREe+Au5O3IyZlzofB4w+Pd2kwSRAAQPvXy4UkwbwkB4aTBDE5sN4wAgABDwBYL6e3Yc6SAwtW520HAAQ8AGC9BAAQ8ACA9RIAQMADANZLAAABDwBYLwEABDwAYL0EABDwAID1EgBAwAMA1ksAAAEPAFgvAQAEPABgvQQAEPAAgPUSAEDAAwDWSwAAAQ8AWC8BAAQ8AGC9BAAQ8ACA9RIAQMADANZLAAABD0AVnszKBt2A9RIAQMAD9Ne6rPyeleO6AuslAICAB6b1RFbeyMqprPyQlb+ycjcr97JyJys3snI2Kx9kZXtWlumymVuTlQP5dxP/DdqsS7BeAgAIeGASD2fl7az8nDC+h8ufWXk/K4/qxlKXJ+jfcct3uhnrJQCAgAcmERMDfxWM5/hnX4XB3QR3C/5evLvg3eCOglG2NZAciGW/rsZ6CQAg4IFxbMzKjyPG8B9ZeSsra5f43FNZOVqQLIi/kq/XvQ+42EByID5iIEGD9RIAQMADyXZk5daI8XsuK6sTjhGTAJdGHONmVp7Tzf+zOTRz98BhXY31EgBAwAOp9mbl7xFj9+SYx1qRlQth9CMH23T3/3e6geRA/E4f09VYLwEABDyQYlfBuL044TFXZeWnEceMdyk83fM+3xCauXvgjOGN9RIAQMADKbaEwa/6S43Z21lZN8WxN4XBaxCXOvb1MHgNX18dayhBsNUQx3oJACDggTLxAv2PgjH7dgV1vFdw/As97vd7od7HCmIC5i1DHOslAICAB1KcLxivMXGwooI64qMGRa9LfLWH/T6cNLlqKGK9tF4CAAIemJWXSsbroQrrOlJQT3yzwSM96veV4cGEyX7DEeul9RIAEPDALMQ7A34Pxbeor6uwvsdL5sbxHvX9W0Pn/ltWlhmSWC+tlwCAgAdm4Z2Ssfp1DXVeLElIbOxBv8dEwHBi5qDhiPXSegkACHhgFh7Kyo2SsfpaDfUeLKnzRA/6/kB4cJ+H5YYk1kvrJQAg4IFZeCVhrK6rod4NJXXGXf3Xdrzvrw6d8zuGI9ZL6yUAIOCBWfm2ZJxeq7Hu30rqfrfD/b5z6FxvZ+VhwxHrpfUSABDwwCw8ljBOT9ZY/6mSun/pcN9/N3Su7xuOWC+tlwCAgAdm5WDCOK3zlXuvJtT/TAf7/dklzjMmCF4IgzdKgPXSegkACHigUecSxumzNda/LaH+9zrY7+dD+Z0Tn4fBJoZPGqZYLwEABDxQp/iKvbslY/Tv/O/VZXnCPPmhY/2+KeGch8vNrJzOEwaPGrpYLwEABDxQpS0JY/R6A+34KyFJsapD/f7pBAmC4XI5K2+Fet4uAdZLAAABDz3zesIYPddAO84ntOPFjvR53BTy7woSBIuTJxeystVwxnoJACDggUmdCrN9g8GCz0N/9iH4oMLkwHD5PiubDWuslwAAAh4Y1/cJY/RQA+04ktCOsx3o79VZuV1jgmChHM3KQ4Y31ksAAAEPpLqbMEZfbqAd+xLa8XsH+vvtBpIDC+VSsJkh1ksAAAEPJFiZeKHZxLP/u0Pas/bL5rzPd4XBfgv/zcp3YfBmgjs1JgniBpMbDXWslwAAAh4osjXxInNHA215IbEtmzr6XcRXPT4ZBomS9/MEwr2KkgQ3JAmwXgIACHigyK7EC8znepasaIt4t8T2rHyclT/C9HcSrDXksV4CAAh4YCkvJ15crmqgLQ8ntmVPT7+rmCyICZ2LUyQJfsjKCsMe6yUAgIAHhh1IvLBc3kBbViS2Zb+vLTyTla8nTBJ8rvuwXgIACHhg2IeJF5VNbAy4PLEt7/na/iduHvnrBEmCl3Ud1ksAAAEPLHYi8YKyLXMllk98bfdZmffJOAmC+OaE1boO6yUAgIAH5jlBcMLXtqR4N8GtMZIE7sTAegkAIOABCYKOeioMXmmY0o8xmbBcl2G9BAAQ8IAEQTdtHCNJsE93Yb0EABDwQHRcgqCTns3K3wl9eVpXYb0EABDwQHRsDhMEx3xtSd5O6MvbugnrJQCAgAeiV+cwQXDI15bsSkJ/btBNWC8BAAQ8sC/xoryJzeyWJ7Zlv68t2c6E/tylm7BeAgAIeGB34kX5ygbasjKxLXt8bWP5OUi4YL0EABDwQIkdiRflGxtoy5rEtuzwtY2lbC+CD3UR1ksAAAEPrE68KH++gbZsS2zLel/bWDYFb4XAegkAIOCBBCmvw9vZQDtSnpePbV3mKxvbnxIEWC8BAAQ8UCZlp/u9DbRjT0I7fvN1TeSsBAHWSwAAAQ+UOZ0wRl9voB0HEtpxxtc1kRMFfXpM92C9BAAQ8EB0KGGMNvEr84mEdhz2dU3kYEGfvql7sF4CAAh4IEp59v90A+04G9qxF0IX7Svo05d0D9ZLAAABD0SrEsbo5Qba8UMo36Bwpa+r8gTBC7oH6yUAgIAHFvxUMkbvNtCGu2H2SYqueqWgX9fqHqyXAAACHljwYcI4XV9j/esT6j/ia5rYkRF9ekvXYL0EABDwwGJbE8bp7hrrT3nF4RZf08RGvanCWyGwXgIACHjgPsuy8mfJOD1aY/0fldR93Vc0lV9G9OtrugbrJQCAgAeGfVwyTi/WWPf3YXbJia57NIze9NH+A1gvAQAEPPCAzaH8LQLLa6h3VX7sorqf8PVM7M0RfXpB12C9BAAQ8MAol0vG6q4a6txbUue3vpapXB3Rr1t1DdZLAAABD4yyv2SsnqyhzrNhdpsjdt2uEX36ja7BegkAIOCBInGzwt8LxuqdUO1jBo9k5V5BfT/7Sqb6Lpe6eyA+zuGRDayXAAACHij1Wsl4rXLn+7dK6nqp5nNdl5VjWfktK3fD4E0Ox7OyvsY6V2bluaysqfncDo/o03cMcayXAAACHkgRf3n+MdT/q/5D+YX5qHou1Xyez2bl5oi6b2Vle8X1HQgP3p0RkxLxEYsXKq7ruRHndd7wxnoJACDggXHENxoUvVnglQrqKLp7ID52UOdt8I8WJAcWJwmqupNgb8K/AzEp80wFdT2elRtLHD9uQLnK0MZ6CQAg4IFxvVkwZuMF6CNTXqDfKjj+mzWf27GEeVnlpowXEuuL5dAU9cRHJpa6K+OnUP8jDWC9BAAQ8NBhnxWM23MTHjM+wvBNwXE/beC8riderN+pqL6/xkgQxPJ1VtaOWceWsPSdAxezstpQxnoJACDggWl9UTB2j09wvNMFxzvT0DndG+NivYq3NlweM0EQS3wE4vWEY8fHBt4PSz8SciIM9noA6yUAgIAHKvFxyUV9yi/U8RfxolvtjzV4PjdD2kV6vOheVkF970yQIFgov+Sff2pRW1ZkZWf+vSz1qEZ8G8MewxbrJQCAgAfqEF85OOpW+T/zi9jHlvhc3OjvUMFn4wXuyw2fy2eJF+dfVVRf/BX/4hRJgtQSExofBo8UYL0EABDwQM3i5oInQ/nu/9/k5VbJ342PG6ybwXlsCIP9BcoutjdXWGf81f94TYmB2M9Hw+ANBmC9BAAQ8EBjNmXlk4QEwKiN/+KF8pMzPocdWbld0MbdNdUbHxWIdzDcC9MlBWLbY4Il3tlhnwGslwAAAh6YqfhM/PNhsEne2TB4Xj5euN7NS/zva/mfHcn/7rIWtX99nqy4kbc3/m/c2G9DA3XHi/qded/FjSDjRoZ/Leq7u3miIu6XcCnvw+N5QuApQw/rJQCAgAcArJcAAAIeALBeAgAIeADAegkAIOABAOslAICABwCslwAAAh4AsF4CAAh4AMB6CQAg4AEA6yUAgIAHAKyXAAACHgCwXgIACHgAwHoJACDgAQDrJQCAgAcArJcAAAIeALBe6h4AQMADANZL6yUAIOABAOul9RIAEPAAgPXSegkACHgAwHppvQQABDwAYL20XgIAAh4AsF5aLwEAAAAAAAAAAAAAAAAAAAAAAAAAAAAAAAAAAAAAAAAAAAAAAACAOfT/ABvthQr7CajRAAABh3RFWHRNYXRoTUwAPG1hdGggeG1sbnM9Imh0dHA6Ly93d3cudzMub3JnLzE5OTgvTWF0aC9NYXRoTUwiPjxtc3R5bGUgbWF0aHNpemU9IjE2cHgiPjxtZmVuY2VkIGNsb3NlPSJ8IiBvcGVuPSJ8Ij48bWZyYWM+PG1yb3c+PG1uPjA8L21uPjxtbz4uPC9tbz48bW4+NTwvbW4+PG1vPi08L21vPjxtbj4wPC9tbj48bW8+LjwvbW8+PG1uPjY8L21uPjwvbXJvdz48bXJvdz48bW4+MDwvbW4+PG1vPi48L21vPjxtbj41PC9tbj48L21yb3c+PC9tZnJhYz48L21mZW5jZWQ+PG1vPiYjeEQ3OzwvbW8+PG1uPjEwMDwvbW4+PG1vPj08L21vPjxtbj4yMDwvbW4+PG1vPiU8L21vPjxtc3BhY2UgbGluZWJyZWFrPSJuZXdsaW5lIi8+PG1zcGFjZSBsaW5lYnJlYWs9Im5ld2xpbmUiLz48L21zdHlsZT48L21hdGg+sn3tXgAAAABJRU5ErkJggg==\&quot;,\&quot;slideId\&quot;:266,\&quot;accessibleText\&quot;:\&quot;open vertical bar fraction numerator 0.5 minus 0.6 over denominator 0.5 end fraction close vertical bar cross times 100 equals 20 percent sign\\n\\n\&quot;,\&quot;imageHeight\&quot;:43.68},{\&quot;mathml\&quot;:\&quot;&lt;math style=\\\&quot;font-family:stix;font-size:16px;\\\&quot; xmlns=\\\&quot;http://www.w3.org/1998/Math/MathML\\\&quot;&gt;&lt;mfenced open=\\\&quot;|\\\&quot; close=\\\&quot;|\\\&quot;&gt;&lt;mfrac&gt;&lt;mrow&gt;&lt;mn&gt;0&lt;/mn&gt;&lt;mo&gt;.&lt;/mo&gt;&lt;mn&gt;7&lt;/mn&gt;&lt;mo&gt;-&lt;/mo&gt;&lt;mn&gt;0&lt;/mn&gt;&lt;mo&gt;.&lt;/mo&gt;&lt;mn&gt;8&lt;/mn&gt;&lt;/mrow&gt;&lt;mrow&gt;&lt;mn&gt;0&lt;/mn&gt;&lt;mo&gt;.&lt;/mo&gt;&lt;mn&gt;7&lt;/mn&gt;&lt;/mrow&gt;&lt;/mfrac&gt;&lt;/mfenced&gt;&lt;mo&gt;&amp;#xD7;&lt;/mo&gt;&lt;mn&gt;100&lt;/mn&gt;&lt;mo&gt;=&lt;/mo&gt;&lt;mn&gt;14&lt;/mn&gt;&lt;mo&gt;.&lt;/mo&gt;&lt;mn&gt;29&lt;/mn&gt;&lt;mo&gt;%&lt;/mo&gt;&lt;mspace linebreak=\\\&quot;newline\\\&quot;/&gt;&lt;/math&gt;\&quot;,\&quot;base64Image\&quot;:\&quot;iVBORw0KGgoAAAANSUhEUgAABJMAAAEICAYAAADr6rWjAAAACXBIWXMAAA7EAAAOxAGVKw4bAAAABGJhU0UAAADT3/4R8AAANldJREFUeNrt3Q/kV9f/OPAjSZKRSSYZSZKZMZnMTGQyM4kkk0zMTDIzMpMkIx8zM4lkJpOYyWRmZCYzE5PMZCKTJBnJJEl8f/f83q/3evfqfe89r9fr3vu69/V6PDi+H9/1vufP657XOff5OufcEIr9X0kCAIyXAABgcgwAxksAADA5BgDjJQAAmBwDgPESAABMjgHAeAkAACbHAGC8BAAAk2MAMF4aLwEAMDk2OQYA4yUAAJgcA4DxEgAATI4BwHgJAAAmxwBgvAQAAJNjADBeAgCAyTEAGC+NlwAAmBybHAOA8RIAAEyOAcB4CQAAJscAYLwEAACT43qtz9K+LJ3K0u9ZupOl+1l6kKV7WbqVpTNZ+l+WNmdpgdsE9OkptjJL27N0rNeOV7J0d04b3++1eWz701n6IEsbjJcAADC5pmVy/FSW9mfpr4Q696d/svRJlp6Z4vvk+SHare70r+471fTpeq3I0kdZujRCH/07Swd6n5XxEgAAJsg0TI7jA+edgjrG/3YuzPyqfr/g393rPRhN46qGY6F9waTruu/U0qfrE4NIR8PMiqO8dourkv7otfGvYSaw+38ln8eHxksAAJgckzw5Xhvyf1W/2Xu4WTHP38VVOJ8WPIRezNLqKbpHlpY8kI8rHdV9p44+Xa89Yf4gXQwsfZWlrVlaXPA9EbfC/VDQZ38L3V4NJpgEAAATPjneEvJ/LT+bpWUJ14gPlxdyrnE7S69MyT3yfmhfICmmTbrvVNGn6xMDRN/ktEv8/w8aAHohS3+G/KDfc8ZLAADotkmcHO/I0sOc+pwc4iHrx5C/RWYaAhqXQ/sCSbd03amiT9cnrij6Jac99o143XMF/beLK8EEkwAAYEInx1sL6nJ+hIeiP0L+IdAvTvD98Upo56qkE7ru1NCn65UXWDtUwbVjO+etULrS++/GSwAA6KBJmhxvDDMrC/IOjF05wrXXhfwDaW9kafmE3h+nQzuDSZt13amgT9fr45z6X6owj/Uhf1XZZ8ZLAADopkmZHMcHv5sF9dhfQR6HC67/4wTeGytyHgLj25viOUpxO9DiGvNfG/LPtvH2rcmnT9crbjPLO5B8W8V5Hc/J52Ho1nY3wSQAAJiwyfH3BXWID6RVBD3iloyi15G/M2H3xsF52rHJFUF5qyZscZsO+nS9joX8c6OqDta+VNDGnxsvAQCgeyZhcryzpA4HK8zrSEE+ccXM0xNyX8SHyevh8W0/qxouQ96ZNlt024mnT9drYchflXSupjz/CfmBQeMlAAB0TNcnx3F1wvWC8sdtFCsrzO/ZkvY6PiH3xZvh8QOJ1zec/7qc9o2rSGxxm2z6dP2KDjX/uqY8zxTkucZ4CQAA3dL1yfFHJeX/qYY8z5c86K6dgPvipzl12jmG/A/mtO+XuuzE06frV7Qaq65tpF8W5Pmm8RIAALqly5PjuFXjVkn5360h371hsl9bvybUv0qhjC1u00mfbkbRWxrr6vP/K8hzh/ESAAC6pcuT47cTyr+yhnzXlOQZXze+osP3xKfh0Vkm4zgvJm+LW3wVvC1uk02fbkbR4eZnasrzk4I8d3ak3QSTAABgAibHv5SU/WqNeV8ryftAh++JH8J4VwvkbXE7qbtOPH26GUXBpLs15Xm8IM/txksAAOiWrk6OVyWUvc7gw6mSvK90/L7YOMa8L4dun6uCPt12Z0vquqGGPIu21nVl+6pgEgAAdHxyvDeh7LtrzP+dhPw3uL0Gtj6nLe8FW9wmnT7dnNMl9fy8hjwvFeS32HgJAADd0tXJ8dmEsr9cY/6bEvI/7PYaWN4Wt1OaZuLp0805VFLPGLyt8oyop8LMW/Hmy+uS8RIAALqni5PjuELlfkm5H4Z6V7IsSmi7391eA/srpy23apqJpk83683Q7JbCooPVu3QWlWASAAB0eHK8MaHcNxoox52Eh9+lbrFkz+e0YwwyLNQ8E02fblYMnD1IaPOq3rL2e0Hf7tJb8gSTAACgw5Pj9xLKfbaBcnyfUA6HRqfL23pzWtNMPH26eV8n1DW+2e2lEfMpWgXVtTfkCSYBAECHJ8enwnjf+jTIw5hzk9LlbXHbpmkmnj7dvBcS6hrT7TD8wePLsnQ957o/Gy8BAKC7ujg5/i2h3AcbKMeRhHKccYslydviFrfiLNI8E0+fHo/TIS2g9G+YOaB8EPF8qx9zrhc/76eMlwAA0F1dnBzfTyj3Ww2UY1dCOa67xZIczmm/bzTNVNCnxyOeV3QrpAWUYtqXeN14xtmZnGvErYRdPXdKMAkAADo6OV6S+NDTxLkm2xLKUfcbqCZF3ha3nZpm4unT47UppAeTYvouS08XXC/+t/M5f/ux8RIAACZD1ybHryY+8GxpoCyvJ5Zlndus0IvBFrdppk+P354wWEApvlnvjXmuE9/Kd22ef385DH/ukvESAABMjke2NfFh55Upewjusk9y2u1bTTMV9Ol2OBAGCyjNvmnxmTCzbe2zef573L4Yz7qalKCwYBIAAHR0cvxW4kNOE2dyPJVYlu1us0JXw/jOyEGf1qcfGSagdDfMrFTq//+fzdJq4yUAAEymrk2OU7djNPFL+OLEsux2m+Uq2uK2WPNMBX26XT4IgweU5qaLoZlVZMZLAAAwOU72WeIDTRMH5C5KLMtht1muvFexf6dppoY+3T67wvDBpM/D5AaCBZMAAKCjk+MTiQ80bWm/mI65zXLlbXHbpWmmhj7dTvFcqH/DcAGlK1l6yXgJAACTSzCp/gfPE26zeW0I+VvclmqeqaFPt1fchnojDL9K6aDxEgAAJpNgkgfPcfk0p72+1zRTRZ9utxVZ+i0MH1D6uXcN4yUAAEwQwSQPnuNyLae93tY0U0Wfbrc3snQrjHYo980sbTReAgDA5Oja5Pi4B8+JkLfF7WGWlmmeqaJPt1M8jPzzMP821GECSvHv3jJeAgDAZOja5PhoBx88j7rNnpC3xe0HTTN19On2eTZLv89T7/eztDJL58Lwq5Q+Nl4CAED3dW1y/E4HHzwPus2ekLfFbY+mmTr6dLu8lqXb4clVRW/0/bvYV4d929sR4yUAAHRb1ybHuxIfVhY1UJZFiWXZ7TZ7zEshf4vb0y0oX+oZPl1Ni/RpfTrHe2H+7Wlbcv79KKuUuhiQE0wCAICOTo63JT6oLGmgLEsSy7LdbfaYz3La6aeWlE8wSZ+exj6dt/V0W8LfDrtKaZfxEgAAuqlrk+MtiQ8paxsoy/LEsmxxmz3mek47vduS8gkm6dPT1qeP5dTz0ADXWJWl8wPei/ez9JzxEgAAuqdrk+NliQ8przVQlk2JZVntNvvPyyF/i9vylpRRMEmfnqY+nbci6bchr3dwwPvxkvESAAC6p4uT44cJ5X6jgXK8kVCOWNYFbrP/fB7avcUtEkzSp6elT79dUMf1I1z39TDYtreuHLwvmAQAAB2eHP+ZUO4dDZRje0I5rrnFHnMjp53ea1EZBZP06Wno03F11b2cOp6u4PovZulW4j15xXgJAADd0sXJ8emEcjcRnNiTUI5v3WL/KdritqJF5RRM0qenoU+fKajjyxXlEVc3pQaUXutAmwkmAQBAhyfHKWdynGhJ0OGQW+w/eVvczmuaqadPN2tdQf3+qTivGJhK2cZ40ngJAADd0cXJccq5JqcbKMeZ0I5zXrriZk4b7dU0U0+fbtaRhtt5f0K7/tOBdhNMAgCADk+OlyaU+2ID5fg9lB/Uu8Qt9v+9WtBOKzXP1NOnm3W5oI4f1pTnpYTPeJXxEgAAuqGrk+M/Ssp9v4Ey3G/Bw29XfJHTRr9oGvTpRi0uqePWmvJNWX3W9lVfgkkAANDxyfFnCWVfXWP+qxPyP+L2+k/eFrf3NQ36dKO2lNRxS415Xy/J+y3jJQAAdENXJ8evJpR9W435p7xCfKPbq/SzWqV50KcbVVbPzTXmfawk7z3GSwAA6IauTo4XhJkDW4vK/mmN+X9ekvcNt1bpA+RvmgZ9unE7w/iCSTtK8j5ovAQAgG7o8uT4i5Ky1/nK+d/G+NDbNXlb3D7UNOjTjSsLJtW5za1s9dnbxksAAOiGLk+OXwjlb15aVEO+S3vXLsp7vVur9OHxWc2DPt24rWE8B3BHT5XkvcN4CQAA3dD1yfHFMTwYlW3V8IayR/K2uHnTHfr0eLxUUtc6D8VfUpL3JuMlAAB0Q9cnx7tLyn+yhjzPhPEdEtwlRWfg7Nc86NNj65cPCup6qsa8l4fiVWcLjZcAANANXZ8cxwejotdN3wvVbot5uuRB7C+31H82FbTTGs2DPj025wrqe6vGfF8P4zkPy3gJAAAmx094t6QO71aY14clee2sua4rs3Q0S9eydD/MrPw5nqXVLfxcjgdb3NCn29in95TU+eWa8t1XkOde4yUAAHTHJEyO40qGS6H+lQULew98eflcqLme8QHvdk7e/4Z6X+k9zGeSt8XtI90OfXqsfTrW+2ZBvU/XlO/POfndCTOHoBsvAQCgIyZlchzfAlX0NqYqXjldtIIhbpOp821PzxQ8dM59+GzLCqXNBeVcq9uhT4+9T5et/nqh4vzWF+TVlTPUBJMAAGACJ8fvh+JzQJ4e8cHv3zCeNyBFRxM+q7oOJx5G3ha3S7oc+nRr+vTPBfn+kaXFFeZ1ruA7YYHxEgAAumXSJsdfFdTl7JDXXFDy0PVlA/W6kfjgea8Fn0HRFrcDuhz6dGv6dHy72t8FeX9bUT4f51w/rsxa3aF7UTAJAAAmeHL8TUF9jg9xvdMNPGyVeZD44BnTojG3/2sFZVuvy6FPt6pPx2BOUWArBuxGOc8obythXBW20XgJAADdNKmT4y9KHhaXJVxjRZZ+LLjO0QbrczukPXTGM2bGvWXky5yy/am7oU+3sk/HLX8XC8pwNUuvD3jN2NZ5QcDrWXreeAkAAN01yZPj+ErvOzn1ituw4lvFVs3zd/GX+oMFfxt/UX+r4bp8lfjgeW7Mbb6goN0O6W7o063t0/F8pM9LyhIDTu9laV1B/48rE2NQ7l7ID/w93dH7TzAJAACmZHIcf3E/GcrfmPRzL/1b8m/j9piVY6jHmoKHs7krGF4Yc3vb4oY+3e0+HfM7nzA23A8zK4x+CDMBr39C8dv3Lva+H4yXAAAwAaZlchx/ST+W8GCZdwBuPJfluTHXYUuW7haUcVsL2jlvi9sVXQ19ulN9ekOWTgzZvrMp1i0G/l41XgIAwGSZtsnx7DaMT7J0JswEOeIDz/1eiv/7au+/Hen92za9tnp17yH4Vq+8t3oPfGvcykwpfbr+9o3BoA+ydCrMrFqK5z3d62vjuDIprlKKwaO9WXqlZe1svAQAAJNjADBeAgDQKXF3wtE56dPQ0R9hTY4BwHgJAEC94jEW/eeMfmxyDACTy3gJAMCwds0zf4zHcSw0OQaAyWW8BABgGHtz5o9vmhwDwGQzXjKsZVk6HGYO2wf04Tb5yXgGtTucM3f83uQYACaf8ZJBPZWlg2HmjYfxHvm35eVdn6V9YebNjb9n6U6YeWPjgzDzBsf4tsn4Zsz/ZWlzaO9hoZNSD/Thuu0zniV7cc73ys/h0ZttH4Qn3x4cD1PemqVFLazHol7ZPs/Sd1m62VePeI9fzNLpMPMm3w0d/9wWzqnvD33jwT+9em6reRz4KqefxTJ0/o3sJscAYLykOkuzdKA3aZ17j7TxQTQ+LO/P0l8J93h/ihPxT7L0jHqgD3fOul4QwXiWb2WWDmXp+hDfK7PBghhcerUFdYlBoa97ZRq0Htd67bC8Q5/ds2EmgHQ3sY5/Z2lHxWV4Osy/8m82HTI5BoDpYLykzJIw80aW2zn3SNseRPfP87A8N8X/di7MrO65X/Dv7vUevBeoB/pwJ8R7/JLxLFcMTsfVRcMEXvLSr1l6YQx1iStffij5fvyp9x0Z7/uHJd+RMQCyuMWfXQwE/6/gs4s/HnyUpQ9z/ntcdba+gnI8H2YCVLPX7W/Xv1vejibHAGC8pAGLexPTf0rukbY8iK4teJC82avLipzJ8acFAZm4NWK1eqAPt94nxrNccRXRsCuRylIMKBxssC4f5ARV4vfm7l7gpd/sNriiAFTczvdSCz+7F3tly2v7T/rqvDunfeK/PRFmVu8NKrbf/r7xJW6t/rUvj20mxwAwPYyXzDdp/KAXuEh5kGjDg+iWXjnmK9/ZMHPQcJkYaLmQc434y/Yr6oE+3FobjWe53g7FK3OqSvE7qs5VKfHa3+bkvW/Ae+VKQXBmT4s+u7hFLe8HghgczFsVFv//l0PxirLYZvFHiAUF3yPx/L0jWbrR9/ex/bb1/f9+MjkGgOlivGRWPNDz/QEeQNvyILqj4EHp5BAPKz+G/K0Qm9QDfbh14qqMv41n83ov1B9Empt+7N2HdXzGv4TqXkEfA/PnC+pxoAWf3TsF5YvBnbLz8Bb0rlG2Ii2OO3H14g+9dDXk/6gR09e9z+Ni3zXWT1LH8WUCAMZLysUJ594w/BaIcT6Ibi0o1/kRHlr+KKjri+qBPtwqXybWc9q8GZoNJA0b/C6zqCDwM8phz0XfkTF9MMbP7u1QHPx5ccB6zv1x4VQoDhYVrWba3Lvmu33/7VOTYwCYPsbL6X4AjRPCa3MmqPGX3xO9ieGvLX8QjVsV8t7aFN90s3KEa8czJfIOOo2/CC9XD/ThVtg6wMPwNFlTEDCIW5Q+6bXdivD4NqcYuIkrTOIWpi9C2oqv+dLbFdblZMh/U9nCCtrpXkE9to/hs3slFG9LPDBkPWf//rXeZ/5q71px6+BfvXZ42Bsz4tgTz6D6JswE1eaesxTf5jb3MP+4EnKpyTEATB/j5fSaPU8hvg1sX05gIeUX/3E8iC4PxVt59leQx+FQvJVDPdCHxyvW958gmDSf+c5N+zM8WlkyiBh0+C0MFky63Qs6jGpPQR57K2qrj0r6xpqG7+lbBeWJn+Gwb+ac/WFh1ADZib4y7TI5BoDpZLycXvHtO2VnHKxo6YPo9wXlicGZKg6Bjb+03inI5x31QB8eq/7+UxZYmhbvzlP3L0YIQsy97r2QHlAadevT6oL8HoTqVsMsCsVB/QsNfnbflrTpxhGuPbtSbfcI19gQntz6ZnIMAFPKeEmZyy17EN1ZUp4qX1F9JNT3y/uk1AN9uA0Bk7gC63vjWVgSngyqHa7w+hvD41ucilIMBI0S8Cn6PL+tuN0OlNSlifOTtpSUYdQ6zwaT9o1wjUt9ZXrO5BgAppfxkjLftehBNK7UKTpkOJ73sLLC/J4tqfvxKa8H+vA49J9zc7UXtBBMenLL1uka8tgUis/0mZv2DJnHKzVdN88zJXWKqzvrDrr/UVLndSNef7bPvDfk338QnlztZnIMAFPMeEmZMy16EP2opCw/1ZBn0euj48PH2imuB/pw0+JWrQt99+7s1p9pDybFtpkbpI4HVNd1MPLBkBZMGnY1zfmS69ZxjtHPJXkervGze60k7zMV5DEbLBvmcPS4XXbudumJX9FqcgwAxksm50E0vrXnVklZ3q0h370leZ6Y0nqgD4/DwYIH/GkPJr3ZV9/XaswrnjN0LdRzHte6kmveralO7yfku3RMffTVEa+/OIz2hrqvGxijTI4BwHg5sLhcvYuHAMeJ+4EpuEfa8iD6dsL9urKGfNeU5BkPgl0xhfVAH25a/+G/8S12cw+VnvZg0tzP+bsG8vsgpK1OWjTgdY+E+lfpzOe5hLrsqyHfheHRm9bmS39XkMfcbYODvtHv5b7yXDI5BgDaMF7OXS3RpYDSm3Mmf4c8iDbil5JyXK0x77Jf4A9MYT3Qh5sUD5a+Eh5fJdK/NXOag0lzAxJxO9O6BvJcHtLOTto04HWvhPGtoix7W93FmuYTRXkeqSCPHWG44F4M1v7ZV54NJscAwLjHy/mWlHchoPTmPBPo/3kQrdWqhHv1ZI35nyrJ+8qU1QN9uGnHQ/k2m2kOJm1t6Duk34WE77TXB7je6oTr7aqxPj8k5F/1+XKHQr1b3KKjYbgfK/pXn31pciyYBADjHi+LDiBuc0ApTtjzfon9zINobfYm3Ku7a8z/nYT8N0xRPdCHm/R6X3l/yPl30xxM+ixU99avQXwZqg0m7Uy43tYa63M8If8PKs7zdEFe98PjWzmH9Xvvel8N8DfP9L4b5r7RbrnJsWASAIxzvEx5oG1jQKkokFTneQoeREM4m3DPvFxj/psS8j88RfVAH25KfHide2B9/N95Z3tNczBp9u1nPzacb8p4vmWA6x2t+HqD2pWQ//cV53ku1Ptmz2VhuEBc/0rWD8IUEUwCgHaOl3FiczF0K6CUEkiKk77FHkQrF3+VvV9Shoehml9v8yxKuF9/n5J6oA836buQviplmoNJccVJ3ML0WsP5bk/4Tnmuwnt1mAOkB/FGQv5VrRaa9U+o93yoPXPKnXpe0qt95bhsciyYBABtGS9jQOlS6EZAaWtCOSc1kNSGB9GNCe1/o4F2uBPKA0FLp6Ae6MNN6X/zYdl5LdP+Nrc2jo+DBsj/COMNJq0LaW+oe77CPP8N9Z4P9UsY7Lyj+HldDtWf22RyDADGy8p0IaCUEkj6Ocy8aciDaD3eS/gMzjbQDt8nlOPNKagH+nATVvc9ZMfXoy8d8d6m+TFy0BUtd8N4g0kpqzdj2lFhnrdDfedDzQ2ObUz8m4/7ynDK5NiXCQC0cbyM52G0NaC0LaFc58Pkr+IY94PoqTDeN6DN+jqMdt7QpNQDfbgJv/aVMeVBWDCpfePkoN9pZVuB6z4zKXqYUIZDFeZ3rsa6ftW7zsXEf78yS/fm5H+39/8zOfZlAgCtHC/bGFBKCSTFpePTsB1o3A+ivyV8FgcbaIcjCeU4MwX1QB+uW//bPlODm4JJzSs7sHrQFTwpq4LqXjmZsjqqysB/0Q8No6zCWh8GD0r1n1G23+TYlwkAtH28bFNAKeVA0fir+bScKzPuB9GUX6rfasFDU0zXp6Ae6MN1eiE8vjIkrqhIPXNHMKl5hwva+0EY/CzBBwnfTztrrtPthDJ8V2F+e0I9waSfw6MfvlK83pf3X6HeF0KYHAOA8bIybQgo7QgCSW16EF0S2vFLdZSyWi3vsNlJqQf6cJ0W9R5gZ8sVt9usHeDvBZOad7qgvYc5a+deGP823BsJZThXYX4rC/J5Y8hr7p7zXb4+se9d7cv7tWm+sQWTAKB74+U4A0opgaS4VekpD6KNPYi+mhiE2dJAO7yeWJZ1E1wP9OE6fd5Xrr0D/r1gUvMuF7T3MG8Au5bw3XS65jqdSyjDrYrz/DEnnw+HuNba8Ojw+tSt0wdD8y+DMDkGAONl5WJA6c/QbEBJIKmdD6Ipb9OL6ZUG2mGUgNCk1AN9uC6b+8r04xDXEExq1tKCtr445DXPJnw3/VFzvVKCSf9UnOdLOflcGGL+NLvC6Hzi38Q3J87dhn2/9/8zOfZlAgCdHC+bDCjtTMgnTuiWeRBt/EH0rcTARxPbDp9KLMv2Ca5HFUGCSU5n9OGhxO/Wm30P6isEk1qvaMvssK+0/yqkbcNdWGO9fkgow50a8v1qxLZcFR6tFPu7N49K0R/AO+jWFkwCgK6Pl3Ei9FfNAaWUQNLvUxxIGveD6J7Eh/hFDbTD4sSy7J7geggmCSbV4ZuKAhGCSc3KC35cGOGaqYH3rTXW6/vQ/MqkKP6YMN+PaPFA8BdK/nZ7r0zx39/oBZZSvNmX199h8EPTTY4BwHjZyvGyzoBSSiDp4pQHksb9IPpZ4oNFE4dFL0osy+EJrodgkmBS1fqDB1/VGASgOgvDo3N5+tOGEa67LrGvnRhzMOlWTXk/0wvo9OcXDyY/GB4/yy5uRXs3zGzBn/13cYvbswOMBf2Hbr/p1hZMAoBJGi/rCCil/PoZDwJ/2i0y1gfRE4kPFm3pLzEdm+B6CCYJJlUprp64Ex5fFTHKVk/BpObszmnjLyu49tWEvhZX69QVfE8JJp2vsW3jnOfnIb5/vguD/fjVf+j2j25rwSQAmMTxssqAkkCSYFKdQZgTE1wPwSTBpCr1PzBvrDkIQHV+C/Ov1qli3Pwksb+9XVPdfkzIu4m3ncVVR9cT5yvbBrx2XNX0IDx+DtUat7VgEgBM6nhZRUBpV+LEbLlbQzBJMEkwSTCpNh+G6rdVCiY14+Wc9n2jous/m9jf/qqpfjcT8j7VUFsv6H2Hftrrx9/30uksfZylF4e8bn/A7MgIZYxb8+IbcY/3lfHb3nVf6eJNLpgEAJM3Xo4SUNqd8Hd/CiQJJgkmCSYJJtXqufD4qohLoZotS4JJzfh1nrY9XnEepxL73HsV55t6ZtPnHf78+t/CFw/sHmZ7aTwEPXU7XuzjL5kcDz4QS5IkSVIdaVqDSdEzQwSU3k7495cFklr3IHp8QoIwk1IP9OFRxUN//5iT9/0sra3o2oJJ9dsa5n9RRdVvolzduzfKvqfuhmq3Z32T+P24q6Of35Lw5Na5twa8xoZecGjQeWvcSre7Kw0lmCRJkiQJJk1mMGk2oJRySOc7AkmdfhA92sEgzNEJrgf68Kg+7ct7b4XXFkyqPxDR/6ax+Dr6Z2vK7+PE76q4oriKt67uH2AO9lpHP8MjffX4ZcC/PxSKD0U/kKX1YWalYUzPh5lVXA/n/LvNgkmCSZIkSZJgUlcCSinnLggktfNB9J0OBmEOTnA90IdH8Wqo9+1RgknNBgJjgGBTzXn+lPh99dsI43g8NPzkgPOGRR38/Nb1BXUe9gI/KZaG4oPJL2RpRcHfxwDS3d6/jSujFgsmeZCRJEmSBJPaEFD6e8RA0grPCK19EN0V2jOxX5RYlt0TXA/04WHFlSPXwuOrGKr+7hVMqs98h27vaSDfp0PatvbZIMWbA1x7dS9Adi88/ka6snyudPQz7D/fKPXcp6fC/OdkzT0PKWVl2NxxcJ9gkgcZSZIkSTCpLQGla0O04RWBpNY/iG5L/CyXNNAOSxLLsn2C64E+PKz+A5W31ZCHYFIzgcCYDjU8xl8eYGyPZzjFg7njFqvZg90X9Mb7+Ma5AznBkYu9772y65/s4Ge4s68ON3tBojJxBdH5gra4NeA86tc5ASjBJEmSJEkSTOpkQOnv3t/Q7gfRLYmf59oG2mF5Ylm2THA90IeHsb2hh3HBpHp8F8Z/OH8MaP1Q45wqniUUV20eTPi3Ozv2+cUtajf66vB24t9+W9IWm0b4Lmj18QL/58sEAKZqvIzBoZsJdboeBJK68iC6LPFBoInDUDcllmX1BNcDfXiY7+Xb4fFA/lM15SWYVL0DfW34zZjL827f/TRqivfM3HODfk/4m6c79hn2n3V1MfHvyg5A/3yIssSVTrPnNm01OQaAbpuk8TLlrW2D/irH+Fc1PEz4PN9ooB3eSChHLOuCCa8H+vAg+g9QfrnGvAST6v2uONuScsXgfFxBdD0MF0C62QuE9B8+vSrhb3/t2Ge4fp6x54WEv9uQ0IZLhyzTlfDobbsmxwDQYZMyXu4eYkIpoNT+B9Hoz4TPckcD7ZBylsa1KagH+nCqfeHJrUR1Ekyqzou9+2Lum/cWtrCcG8PM6ql4j8eDuuNh2g96AZT4v2/3yv51mDlH6cWCa+1P+G78oGOfY//ZUClbFBckjFejHL5+tneNYybHANBtkzBepr4pS0CpWw+is04nfI7vNdAOexLK8e0U1AN9ONX3oZtnEr4+5ffLs+HxLeO/hA68yr0Cf4TyFZtdemlH/9woBtZStujtC+UvL1lQwffRiTY3nmASAEz+ePlWBQ8OAkrtfBCdlXIgahOT0hMJ5Tg0BfVAH04lmNQ98VDkq3Pa4rcw/HamLtkY0s5X6oq4FfBWX/n3JvxdXH12I9T7o4dgEgBMiC6PlymBpHjYa8pb3gSU2vcgOivljJ/TLWiHsjOPJqUe6MOpBJO6JQYgLs1ph/i/n56Sup9KuC9e7VB9jvWV/VLi35WdPRlXNy2q6HvBNjcA6LiujpepgaRneunvIKDUtQfRWUsTPruLDbRD2Vt+4haIJVNQD/ThQR8aBZPaL34/zT1fJ54/tHxK6v5sKH9BwqUO1ef5ecq/MfFvz5e0w2cVlG92O+E+k2MA6LYujpc7Q3ogaVb831eDgFKXHkTnm3zmpfsNlOF+GD0QNCn1GMTmjgYUhkln9GHBpA6KK03OhccP4H9miup/LOGe2Nah+lzsK/vXiX+3LKEdXqigfLNj0I42N6JgEgBM3niZEki6mjMRFlDqbjDps4TPbXWN+a9OyP/IFNVDMEkwSTBpMsSDlM/OqXs8L2fVFNV/bShflXShQ/Xpf8HC3ZAeGCx70+eVCsr39JzrbTY5BgDBpKbsSCjvlZKJU/xvfwkodS6Y9GoY7y/H2xPy3zhF9RBMEkxqo7LgFU+a+5bJW73gyjQ5m9CvN3SkLnFl0T99Zd8/wN9/Eer/oWHrnOstanNjCiYBwOSMl1UEkgSUuvsgumCeSXJ/+rTG/D8vyfvGlNVjEIJJ+nBTBJMGM/fNjvFg5eenrP4pL0U41qH69G/Xu9wbc6r6nqhiJdGR8OhMLpNjAOi4LoyXKaspYiBpxQDXFFDq3oNo2a+m52vM+7cKA0CTUo9Ugkn6cFMEk9J92vf5v9RQvnHs3TVgkKMO8cDx6yX3Szw76qmOfJ4vVBD8uVDQFg8q+sxmz3M6YXIMAIJJdduWUMa/BgwkzVoeBJS69CD6Qih/C1kdy+aXhvIzNdZPYT0EkwSTBJO66eCcNrmXpVcazPubXr4vjrkNTiV8D7/coc+0/9Dtb4a4xu2C9vilgjLOPbPvTZNjABBM6mogSUCpmw+iF0vKsrWGPMu2WP4yxfVIIZikDzdFMKnc++Hx1SavNZj37CrjP8bcBm8n9OV9HfpM3+0rewwQDnOI+r8F7XGygnLOBjHvhPGvTOv05BgAjJfjDyTNElDqzoPo7pKynBxD/bdNcT3Qh9tEMGmwIEqTq0PiqpTZlS/jDNRs6AVbiu6TLzv0mS4PT64oOjDkta4VtMmHI5ZzYZg5ky9e6wuTYwCYDG0cL7eGtEDS8oonZAJK7X8Qjb9mFp1zER8SqtwiFl9j/KDkPpzmeqAPt4lgUr7+H2h2NhzwuBoerYZaNqY2iKt1bpbcI2c79rl+1Vf+qyOMHUVvthv1ftk751rrTI4BYDK0bbwcRyBp7oRXQKn9D6LvlpTn3Qrz+rAkr53qgT7cGm0MJq3M0tEws+rjfph5m+PxMLNSpymvh8fPS3unwbyfD48CSTGdHtPnsLyvHPOleP8s7ND9vnGeOoyy2ux4qGfr9ZLwaFXSN11pXMEkAOjWeLk1lB8QfDnUE0iaO+EUUHrc2ZY9iMZVPZdC/atsFobiZf8X1AN9uFXaFkyKBzjfLmjzzQ2UYVN4fFvXBw18P68JM2e0fTfPmL55DJ/DioRx/evQgXN8+tr5z/BkMGwURefqvTHCdT8Jjw41X2NyDACToy3jZRsCSbOWzzNJm+aAUtkkfBwPoi+U3C9VfDZFq3niVo316oE+3CptCiY9E4rfjjXb7nWuUNoYig9Vbjr9PYZ7YnUv36JyHergvf7BPN/lowZqngr526G3D3nNDXOuccTkGAAmSxvGyzdDeSDpz9BMIGmWgNKMJQmfTfzv4/hF9/2CMt0KM+cEjfIgWPQQ9r56oA+3TpuCSUcTAywna8o/bi+7Hdr1tsMDDX8GcVXWP6H4bLrtHbzP5/teryogdjKnrYYJBMWzsWYDeVeytNjkGAAmy7jHy5RA0h+h2UDSrOW9vKc5oLQn8SFh05jK91Wo/iDV+FD9c2j2TT+TUg/04XFqUzDpRmK736sh77hC5VZoVyAppmcbbP8PS+YWcbVeV1dlnuqry/UKAzVrc9pt0G3X8RDwn3p/G88Ke8HkGAAmzzjHy7gH/0FoZyBpVsz7UpjOgNLSUH5g6Ww6N8ZyflNQruNDXO90wfW+VQ/04dZqUzDpQUgPslT55sZ44PeN0L5AUlP3V6z/zyVlORFmVux10auhui1oeY6E0V7UENv2h67PjwSTAKC94+Xrof2BpFnTGFCKB5aeH/BhIW7rGNdWmS9KAifLEuv8Y0n91AN9uL3aFExK3WJW5RbDlDeWjSvtqLm9Yxvuz9LdgjLEttnc4fs71vFyX53O15BPfGnDhXnaL97TZau54n+fe0TAga42tmASALRzvEwJJF0K7QgkzZ2kpwSUdnX4XoiBijd6D5R3w/AHrB7M0muh2l/bU8RfTe/klCuem/FRllbN83ere2XO+9t4NsVb6oE+LJg0gK9Csyt24tlqf4R2BpJuh3qDlG+F4iDa3d49vajj/Xt/eDIQWddWvbw328bP8p15Ps940Pbx8PgWuQNdbmzBJABo53gZJz+3OhRISg0oxdevr+zQZx9fW32zNzm8X9NDxP3e9WM+TRx0Gg8mPRnK36D0cy+Vveno9Jg+00mpB/rwtAaT4rlF90L5qqQqzpKJD/YXWhpIiunzGto3nhH0Xpg52Lno3v2s933adbEO/QHiTxuY85wvaNtfsvT7PPd5/EFjm8kxAAgm1SUvoNTWQFJZQCmeUbGqY5/95oYfKJpctbUuS8fCcK/FjhPj+Avrcy34jCalHujD0xZMiraE/BVi9yp84F7U4kDS/1X4HbSgd89/GYoDdXGbVTyAe9kE9fX+M/BicPephvKObZm6bTP+CDIJwTvBJABo+Xi5ti+gdKkjk7+4neBixwNJ0yI+fMTtOp9k6UyY+RU7Ptzd76X4v6/2/tuR3r9doB5AReL20+O9se5+7//GA6DXaJok8Yen+EbC06F462Yckw+HDr41LMHmOd/1s6npwG5cCba79znEVdj3euWIP3TEIG7cgvfsJDW6YBIAtH+8nA0odSWQNGs2oHSj97AAAFQjBsTztm7G7YFx9VE8lyoe7P2M5mLSJscAYLxME3+h7eJy9GXBr8sAULWXwqOzeeK5PXH71N7QzYPhMTkGAOMlAEDN4uvpl2kGTI4BwHgJAAAmxwBgvAQAAJNjADBeGi8BADA5NjkGAOMlAACYHAOA8RIAAEyOAcB4CQAAJscAYLwEAACTYwAwXgIAgMkxABgvAQDA5NjkGACMlwAAYHIMAMZLAAAwOQYA4yUAAJgcA4DxEgAATI4BwHgJAAAmxwBgvAQAAJNjADBeGi8BAMDkmMm2Pkv7snQqS79n6U6W7mfpQZbuZelWls5k6X9Z2pylBZoMMF4CAIDJMdPlqSztz9JfCfd3f/onS59k6Zkpbr/nh2i3utO/bmuMlwAAYHIMdYhBpDsF93P8b+fCzCql+wX/Lq5aOhCmc6XSsdC+YNJ1tzbGSwAAMDmGKq3N0qWce/hmlj7M0op5/i6uwvk05AeWLmZp9RS149JQHGQbVzrqFsd4CQAAJsdQlS1hZhvUfPfv2SwtS7hGDBhdyLnG7Sy9MiVt+X5oXyAppk1uc4yXAABgcgxV2JGlhzn37skBr7U4Sz+G/G1v0xDQuBzaF0i65TbHeAkAACbHUIWtBfft+SGvGbd5/RHyD4F+cYLb85XQzlVJJ9zqGC8BAMDkGEa1McysFprvnr2bpZUjXHtdlh7kXPtGlpZPaJueDu0MJm12u2O8BAAAk2MYRQzm3Cy4Z/dXkMfhguv/OIFtGg8nn2+74K9h5hyluMVvcY35rw3551UtcMtjvAQAAJNjGMX3BfdrDDJVEfSI293uFOTzzoS16cF52rHJFUEfB1vcMF4CAIDJMdRgZ8n9erDCvI4U5BNXzDw9IW0aV/5cD49v5VvVcBnyzqna4pbHeAkAACbHMKy44uh6wb0at2mtrDC/Z0v6xvEJadc3w+OHjK9vOP91Oe0bV4bZ4obxEgAATI5haB+V3Ks/1ZDn+VAcvFo7Ae3605w67RxD/gdz2vdLtzzGSwAAMDmGYS3M0q2Se/XdGvLdGyb7tfVr5tTl6zGVwRY3jJcAAGByDJV7O+FeXVlDvmtK8nwQZt6E1lWfhkcHbo/jDKi8LW53gy1uGC8BAMDkGEbwS8l9erXGvK+V5H2gw+36Q68OO8aUf94Wt5NueYyXAABgcgzDWpVwn9YZfDhVkveVjrfvxjHmfTmnTd9022O8BAAAk2MY1t6E+3R3jfm/k5D/Bh/TwNbntOW9YIsbxksAADA5hhGcTbhPX64x/00J+R/2MQ0sb4vbKU2D8RIAAEyOYVhxhcr9knv0Yah3JcuihH7yu49qYH/ltOVWTYPxEgAATI5hWBsT7tEbDZTjTigPaC31cSV7PqcdY+BwoebBeAkAACbHMKz3Eu7Rsw2U4/uEcjg0Ot2hnDY8rWkwXgIAgMkxjOJUGO+b3GZ9HZybVKW8LW7bNA3GSwAAMDmGUfyWcI8ebKAcRxLKccbHlSRvi9uDMHM+FRgvAQDA5BiGdj/hHn2rgXLsSijHdR9XksM57feNpsF4CQAAJscwiiUJ92dTZxVtSyhH3W+VmxR5W9x2ahqMlwAAYHIMo3g1pAWTtjRQltcTy7LOx1boxWCLG8ZLAAAwOYaabA1pAZxXGihLmwJbXfZJTrt9q2kwXgIAgMkxjOqtkBbAWdpAWZ5KLMt2H1uhq2F8516B8RIAAEyOmXB7QloAp4ntUYsTy7Lbx5araIvbYs2D8RIAAEyOYVSfhbQAThOHXi9KLMthH1uuIzlt9p2mwXgJAAAmx1CFEyEtgNOWvhLTMR9brrwtbrs0DcZLAAAwOYYqdDGYdMLHNq8NIX+L21LNg/ESAABMjqEKgkmT49Oc9vpe02C8BAAAk2OoimDS5LiW015vaxqMlwAAYHIMVTkeBJMmQd4Wt4dZWqZ5MF4CAIDJMVTlaOheMOmoj+0JeVvcftA0GC8BAMDkGKr0TuheMOmgj+0JeVvc9mgajJcAAGByDFXaFdICOIsaKMuixLLs9rE95qWQv8Xtac2D8RIAAEyOoUrbQloAZ0kDZVmSWJbtPrbHfJbTTj9pGoyXAABgcgxV2xLSAjhrGyjL8sSybPGxPeZ6Tju9q2kwXgIAgMkxVG1ZSAvgvNZAWTYllmW1j+0/L4f8LW7LNQ/GSwAAMDmGOjxMuEffaKAcbySUI5Z1gY/sP58HW9wwXgIAgMkxNOzPhHt0RwPl2J5Qjms+rsfcyGmn9zQNxksAADA5hrqcTrhHmwhO7Ekox7c+rv8UbXFboXkwXgIAgMkx1OVgwj16ooFynEgoxyEf13/ytrid1zQYLwEAwOQY6pRyVtHpBspxJrTj7KauuJnTRns1DcZLAAAwOYY6LU24Ry82UI7fQ/nh20t8XP/fqwXttFLzYLwEAACTY6jbHyX36P0GynA/jD+g1RVf5LTRL5oG4yUAAJgcQxM+S7hPV9eY/+qE/I/4mP6Tt8XtfU2D8RIAAEyOoQmvJtyn22rMf3tC/ht9TKWf1SrNg/ESAABMjqEJC7L0T8l9+mmN+X9ekvcNH9F/juW00W+aBuMlAACYHEOTvii5T+t85fxvYXyBrK7J2+L2oabBeAkAACbH0KQXQvnb1BbVkO/S3rWL8l7v4/n/ira4Pat5MF4CAIDJMTTtYsm9urWGPHeU5OkNZY/kbXHzpjuMlwAAYHIMY7G75F49WUOeZ8L4Dv7ukqJzrfZrHoyXAABgcgzjEAMW1wvu1Xuh2q1uT2fpQUF+f/lI/rOpoJ3WaB6MlwAAYHIM4/Juyf36boV5fViS186a67oyS0ezdC1L98PMyp/jWVrdws/leLDFDeMlAACYHJsc00JxddKlUP9qoYVhJoiTl8+Fmuv5cpZu5+T9b5Y2t+wzydvi9pFbFuMlAACYHMO4xTe7Fb1h7e0K8ihalRS3vtX5BrdnQn4gaW5AqS0rlDYXlHOt2xXjJQAAmBxDG7xfcM/eCjPnHQ0rBnP+Lbj++zXX7WhCv6zrwPFh5G1xu+Q2xXgJAAAmx9AmXxXct2eHvGbcsvVzwXW/bKBeN0JaMOleCz6Doi1uB9yiGC8BAMDkGNrmm4J79/gQ1ztdcL1vG6rTg5AWTIpp0Zjb/7WCsq13e2K8BAAAk2Nooy9CcQBoWcI1VmTpx4LrHG2wPrdDWiApnhu1YMxt/2VO2f50W2K8BAAAk2Nos51ZupNzD8dtWPGtYqvm+bt4iPXBgr+NZye91XBdvgppwaRzY27zBQXtdsgtifESAABMjqHt4sHZJ0P5W9B+7qV/S/5t3PK2cgz1WBNmzkMqW5X0wpjb2xY3jJfGSwAATI5NjpkI67J0LJQHi/IOtY5nLT035jpsydLdgjJua0E7521xu+IWxHgJAAAmx9BFcRtWXD3zSZbOhJkgRwzQ3O+l+L+v9v7bkd6/XdCi8scteDGwdatX3vh/T4SZlUuA8RIAAEyOAcB4CQAAJscAYLwEAACTYwAwXhovAQAwOTY5BgDjJQAAmBwDgPESAABMjgHAeAkAACbHAGC8BAAAk2MAMF4CAIDJMQAYLwEAwOTY5BgAjJcAAGByDADGSwAAMDkGAOMlAACYHAOA8RIAAEyOAcB4CQAAJscAYLwEAACTYwAwXhovAQDA5BgAjJcAAGByDADGSwAAMDkGAOMlAACYHAOA8RIAAFri/wGK377427SNNwAAAX90RVh0TWF0aE1MADxtYXRoIHhtbG5zPSJodHRwOi8vd3d3LnczLm9yZy8xOTk4L01hdGgvTWF0aE1MIj48bXN0eWxlIG1hdGhzaXplPSIxNnB4Ij48bWZlbmNlZCBjbG9zZT0ifCIgb3Blbj0ifCI+PG1mcmFjPjxtcm93Pjxtbj4wPC9tbj48bW8+LjwvbW8+PG1uPjc8L21uPjxtbz4tPC9tbz48bW4+MDwvbW4+PG1vPi48L21vPjxtbj44PC9tbj48L21yb3c+PG1yb3c+PG1uPjA8L21uPjxtbz4uPC9tbz48bW4+NzwvbW4+PC9tcm93PjwvbWZyYWM+PC9tZmVuY2VkPjxtbz4mI3hENzs8L21vPjxtbj4xMDA8L21uPjxtbz49PC9tbz48bW4+MTQ8L21uPjxtbz4uPC9tbz48bW4+Mjk8L21uPjxtbz4lPC9tbz48bXNwYWNlIGxpbmVicmVhaz0ibmV3bGluZSIvPjwvbXN0eWxlPjwvbWF0aD6E+az9AAAAAElFTkSuQmCC\&quot;,\&quot;slideId\&quot;:268,\&quot;accessibleText\&quot;:\&quot;open vertical bar fraction numerator 0.7 minus 0.8 over denominator 0.7 end fraction close vertical bar cross times 100 equals 14.29 percent sign\\n\&quot;,\&quot;imageHeight\&quot;:42.24},{\&quot;mathml\&quot;:\&quot;&lt;math style=\\\&quot;font-family:stix;font-size:16px;\\\&quot; xmlns=\\\&quot;http://www.w3.org/1998/Math/MathML\\\&quot;&gt;&lt;mfenced open=\\\&quot;|\\\&quot; close=\\\&quot;|\\\&quot;&gt;&lt;mfrac&gt;&lt;mrow&gt;&lt;mn&gt;0&lt;/mn&gt;&lt;mo&gt;.&lt;/mo&gt;&lt;mn&gt;3&lt;/mn&gt;&lt;mo&gt;-&lt;/mo&gt;&lt;mn&gt;0&lt;/mn&gt;&lt;mo&gt;.&lt;/mo&gt;&lt;mn&gt;2&lt;/mn&gt;&lt;/mrow&gt;&lt;mrow&gt;&lt;mn&gt;0&lt;/mn&gt;&lt;mo&gt;.&lt;/mo&gt;&lt;mn&gt;3&lt;/mn&gt;&lt;/mrow&gt;&lt;/mfrac&gt;&lt;/mfenced&gt;&lt;mo&gt;&amp;#xD7;&lt;/mo&gt;&lt;mn&gt;100&lt;/mn&gt;&lt;mo&gt;=&lt;/mo&gt;&lt;mn&gt;33&lt;/mn&gt;&lt;mo&gt;.&lt;/mo&gt;&lt;mn&gt;33&lt;/mn&gt;&lt;mo&gt;%&lt;/mo&gt;&lt;mspace linebreak=\\\&quot;newline\\\&quot;/&gt;&lt;/math&gt;\&quot;,\&quot;base64Image\&quot;:\&quot;iVBORw0KGgoAAAANSUhEUgAABJMAAAEICAYAAADr6rWjAAAACXBIWXMAAA7EAAAOxAGVKw4bAAAABGJhU0UAAADT3/4R8AAAMtdJREFUeNrt3Q/kVff/OPCXTCaJTCaZSJLMROZjZmZkMplEMklmTGZmZsx8JJORycxkJJNMIpNJvsZ8TGYmJpnMRDLJZCSZJGO/8/rd+9bd7X3Ped0/59zz5/HgZVm9z+vPfZ3363me95zXCSHfPwUFALBeAgCA4BgArJcAACA4BgDrJQAACI4BwHoJAACCYwCwXgIAgOAYAKyXAAAgOAYA66X1EgAAwbHgGACslwAAIDgGAOslAAAIjgHAegkAAIJjALBeAgCA4BgArJcAACA4BgDrpfUSAADBseAYAKyXAAAgOAYA6yUAAAiOAcB6CQAAguNybcrKO1k5lZWfs3InK/ez8iAr97JyKytns/JJVrZmZYlpkuyxrGzvj10cw+tZ+WtofP/IyjdZOZqVHVlZathwTtfWloGx/T4rt/tj+qA/xvH8vtYf3yMtP6clkwAAoGPB8YqsfJCV3xL6PFz+zMrHWVltuuRezB/vX1yOO77xovRkVp4xjDina2FNVj7Kyo0JxnbhnI7JpRetlwAA0E5dCI7jBeednD7Gv/su9O5oyEuGxG/jDwR3NQxfdJ6e8IJzsXIiK08YVpzTcxETdPHuogczPKd/zMpm6yUAALRLm4PjDVm5PKJf8VGr97Py5CI/90z/gmrUReilrKwzdf7/4yx3ZnjRuVDi3RBbDC/O6Uq9GCa/E6mo/J2Vg9ZLAABoj7YGx9uycndEn85lZWXCMeLF5cURx4j7hrzQ4XnzYUkXnQslfnbPOT1xTlfi9dBL+PxTcomf0+PWSwAAaL42Bse7cy6MTo55rHjh820Y/YjMSx2cMx9VcNG5cHG/1imKc7pUb1V0Pi+UOPaPWS8BAKDZ2hYc78jpy4UJj7k8K7+E0XfQdOmRrFEXnvFC/3z/7+MdRYNvc4p/3thPCMQL/7/GuPC86BTtPOd0eV4N1SaSJk0AWi8BAEBwXJqYxLg3oh8xgbFmimPHZMioTWlvZmVVB+bK82HxJNKRMcd2Wejtn5L65rfdTtPOck6XZ30Y/djg1dB7211M5MU9qAY3KI/J4fj2xp1Z+Twr18NkCaXXrZcAANBcbQmO44XfHzn9+GAGdRwK+Y9utFm8k+P38OhdQxunOObmgs9sofzsNO0k53S5Fts76kpWtk5wrLh5909h/MdYm/bmRskkAABoWXB8PqcP8YJ0Fpu+xoRK3tvL3mzxPPl8qK/Hw2xepx7vcEh57G29U7VznNPl2b9IXz+fwTkdj3svpCeUjlgvAQCgmdoQHL9W0IdZvpL6cGjXN+0pNg3189CMj/9+wjzc41TtFOd0eeJjpn+WeE4/1x+3lGRSTDwtt14CAEDzND04jncn3Mhpf9zTZ80M61tbMF7HWjhHzg7072gJx497sNwpGNfjTtXOcE6X68Oh/p0uoY6Xwui37w2XN6yXAADQPE0Pjj8saP//SqjzQsGF7oYWzY8NA337rsR6ThZ8jqecqp3hnC5PfIxtMFEXN88u686ggyEtmfS19RIAAJqnycHxY1m5VdD+/SXU+3bozl00n4aHb7cq83GfvQVjetqp2gnO6XK9OtSvl0usK95x+HvCGnPXegkAAM3T5OD49YT2rymh3vUFdcbXjT/ZgrkR72JY2FtlW8l1bQ/uTMI5XbbBR1a/qaC+90La3UlLrZcAANAsTQ6Ofyho+7US6y76xv1AC+bGQoLnTAV1bS0Yz0+cqp3gnC5PvOvrQXj46N7GCupcFdL2TnrJegkAAM3S1OD4qYS2nyyx/lMFdV9twdyIe6nszMrqCuoqSibtdKq2nnO6XDsqGsdhFxM+11eslwAA0CxNDY7fTmj7vhLrfzOh/mdNr2R5j7nFuylWGqLWc06X69OBfmyssN4vg2QSAAC0TlOD43MJbX++xPpfSqj/kOmVLG8D7jOGpxOc0+VaeGPdtxXXm5Kk29aQMZRMAgCABgfHcWPo+wXt/rv/78qyNGHsfja9kn2RM47PGJ7Wc06X70To7Tn1csX17koY16etlwAA0CxNDI6fS2j3zQracSfh4ne5KZbkt9DuV7LjnO6qHWG+ScKur5cAACA47nsrod3nKmjH+YR2vGqKFdoSRm947MK9G5zT7VWUTPrVegkAAM3TxOD4VJjvW58WfBXsm1TW53krK+sMTafngHO6HXbW4HPt8noJAACC476fEtp9sIJ2HE5ox1lTLNdidyXFRNJmQ9Mpzun22lswnrutlwAA0DxNDI7vJ7R7Tw0ukmK5YYqNFB9hG94rKT7att7QdI5zur0O5Yzlg6w8br0EAIDmaVpwvCyhzVXta7IzoR1N2ly2asP708RHneyR1D3O6XY7nTOWp6yXAADQTE0Ljl9MvPDcVkFbXklsy0bT7F/inQjfhH+/pWuXYeks53S7/Zozji9aLwEAoJmaFhzvCGkXey907CK4KZ7KysXw6GNDHwR3JXWVc7q9lueM4SXrJQAANFfTguM9iRd7VSQmViS2xV03PfH173dzxul26CWVlhqqTnFOt1feY4M7rJcAANBcTQuO30i82KsiIfF4Ylv2dXyObc/KL4ljFcv1rLzs1OwM53R7nRgxfhetlwAA0GxNC44/TbzYq2KD3KWJbTnUwXn1WD9JcDmkJ5GGy/HgLqUucE6393fAqDsRn7VeAgBAszUtOD6eeLFXl/GL5YsOzactWfks9B5Z+2cG5cesrHKatppzup32jRi7L62XAADQfJJJ5V94Hu/APIp3IV0Ns0kgDZd4d9NKp2prOafb6adFxu1WVp6wXgIAQPNJJrnwnIVTofdIy19ZuR9mn1D6xqnaWs7p9nl+xLhtt14CAEA7SCa58CxL3H9mQ1ZeycrerJwMvc21J00o7XW6tpJzun1+XGTMjlkvAQCgPZoWHB9z4dl4cV+luOny3TBeMumP0HvbFu3inG6XHYuM16XQjs30JZMAAKChwfHRBl54HjXNFrUiKx9n5e+QnlB6z7C1jnO6PZaFR+8+/DMra62XAADQLk0Ljt9s4IXnQdMs19NZuZY4lr8artZxTrfHkaFxionil6yXAADQPk0LjvcmXuxV8UjF0sS27DPNCsU3PF1OHM+nS25L6h4+TS1LndPO6RIstun2G9ZLAABop6YFxzsTL/aWVdCWZYlt2WWaJXky9PZFmvejbpJJzmnn9HhWZuX3oTH6yHoJAADt1bTgeFvixd6GCtqyKrEt20yzZFsTxvNMyW2QTHJOO6fH803oxgblkkkAANDQ4Hhl4sXeyxW05aXEtqwzzcZyrmA8r5Rcv2SSc9o5ne5AqDbZa70EAADB8URS3v61vYJ2bE9oR2zrEtNsLM8XjOn9kuuXTHJOO6cnG69z1ksAAOiGJgbHVxLavbuCduxKaMfvpthErheMa5kX85JJzmnndLEtWbk7MC7fZuUx6yUAAHRDE4Pj0wntfquCdryR0I6vTbGJfBnmlxCRTHJOO6fzrQ3/3iz/h6w8br0EAIDuaGJwfDCh3VVsAJuSdPjIFJvIntC8hAjO6S6Im5RfGxiPn7Ky3HopmQQAQLc0MThO2dfkdAXtOBvqsc9LGxW94cueNe3inG6GuFn65YGxiH9+wnopmQQAQPc0MThentDuSxW04+dQvFHvMlNsImvC/DbgxjntnF78M/pxYCx+C727lKyXkkkAAHRQU4PjX8J83/gV+nXM++K3i8mFK4anlZzT9RUfK/0u/HsT8tXWS8kkAAC6q6nB8acJbV9XYv3rEuo/bHpNbFmY7+NOOKed0z3xkdJzA2NwMytPWS8lkwAA6LamBscvJrR9Z4n1p7xC/DnTa2J5j7m9Z3hayTldT4Nv2ruVlQ3WS8kkAABoanAcvy3/s6DtR0qs/7OCum+aWlN5JWds/2N4Wsk5XT+Db7e7nZVnrJeSSQAA0PTg+POCtl8ose6f5njR2wV7R4zrDUPTas7p+jgy0Pe7obok7ur++V/HNzZKJgEAQAuC482h+M1LS0uod3n/2Hl1bzK1pvLViHH92NC0mnO6Hg4O9PteVl6osO4z/Xq3WC8BAKC+mh4cXypo/44S6txdUOcPptXU/hiRSFhraFrPOT1f7w70+0FWXq6w7oV9q36xXgIAQL01PTjeV9D+kyXUeTbMb5PgLtg6YlyPG5pOcE7Pz+tD/X61wrrj2/Ru9+t9x3oJAAD11vTgOO6rcSOn/fERjVk+FvNE6H1bP6q+30ypqX2/yLjGPVtWG5pOcE7Px86hfr9WYd2rsnItPLwbaqX1EgAA6q0NwfH+gj7sn2Fd7xfUVfYF2JqsHM3K71m5H3pvvzoWet/qt8G2EeP6tlO1U5zT1Z7T8e2Jg3tGvVlh3fENcdcG6j5tvQQAgPprQ3Ac72S4HMq/s+Cx/gXfqHoultzP58PDx0AWu3Nna0n1xs13D/cvcPf2L37LsHLE+J53mnaOc7rcc3rQS6F3t9dCve9V8NmuD719qr4Jj258vrXG81IyCQAAWhYcbw75b2N6fQZ15N3BEB/NKPNtT6tzLjoHLz5neTdDvND+Oiy+EfbZEvp7fpG6rofeY0h0j3N69uf0sOf6dfxTk3LdegkAAM3QpuD43Zx+3JoyKbG64KLr3ZL7djTxYmyWmxMfCMWvaf8kzGb/mpOLHP9maM/jezin63BOD4qPl90O9Ukk/dP/nWO9BACABmhbcHwipy/nJjxmfCzj+5zjfllBv24mXozdm2GdvybWGf/dixPWsaL/uQwf82pW1jo9cU7P9JxeEB8zuxXqlUj6pwHnvGQSAAC0ODg+k9OfYxMc73TO8b6uqE8Pxrggm9Wbrsa9ayFe2G8Z4/hxz5QbI8Z0pVMT5/TMz+ko7nl2M9QvkfSd9RIAAJqjrcHx5wUXiynJiiez8m3OcY5W2J/UxE589GzJjOo8O+FF4aWsfJCVl4cuguOf49vaDoV/v71p8LG215ySOKdLO6dXjTj36lB2Wy8BAKA52hwcx8TEnRH9iq/f/jArTy3yc3GfnoM5Pxv3WdlTcV9OhOq/3d9W0UVkfNzmv1lZ5nTEOV3aOR33l/ol1DORFBNrSxow/ySTAACgI8Fx3GT3ZCh+Y9L3/VL0ZqP4eMyaOfQj7nFyLxTfwbB5xvUeCOVdQMbx3hd6b40D53R553RM1FwM9UwkxfKZ9RIAAJqlK8Hxxqx8ESZ7DXa84Iv7sjw95z7EO4X+ymnjzhLrvTSDC8Y49vFxpDdC73EjcE5Xc04vDfVNJP1Tg8/BegkAAILjXPEb+riXz8ehtyfQ1f7F3P1+iX++1v+7w/1/W6fHL9b1L4Jv9dsb/3s89O5yqOLifX/o3RXyf6H3WNHg2C2M3x+htxl3vOPjUP+CeL1TDed07c5prJcAACA4BgDrJQAANRWfTjg6UI6EZuwfKjgGAOslAAAVi0/t/D0UQ/5XcAwA7WW9BABgUnsXiR/jdhyNfSGV4BgArJcAAJTj7RHx46uCYwBoN+slk1oZei+kOGYoAKBzDo2IHc8LjgGg/ayXjGtFVg6G3lsl4xy5W/P2bsrKO1k5lZWfs3In9N4y+SAr90LvbZPxzZifZGVrqO9moW3pB+WLj5Zs78+FOCeuh4dvhF2YL/Etxd+E3ia5O7KyVD/MFXOlUZ9b7MNnofc28sH1IL6ZPL59fGfJ68CJEXFjbEPj394sOAYA6yWzszwrB/pB6+AcqWMyKSa8PsjKbwlzfLjEQPzjrKzWDxomJhyP9y8qx50v8QLwZFae0Q9zxVyprbWhl0D6K7GPMam2e8ZteCIr/8up8yPBMQB0g/WSIstC740st0fMkbolk2Ly5U7OnI5/913o3d2TdwESv8mOybMl+kHNrQm9OxH+mVE50b9g1A9zxVyph/hlTrzr6kEY/eXBh1l5f8Tffx96ibdpxcTb9YHjDr+9Lf7d44JjAOgG6yWjPN4PTP8smCN1SSZtyMrlEW38o9+XJ0cEx0dyEjKXsrJOP6ip+KjLnRleVC+UG1nZoh/mirkyd7FN10a0OSZz4h2oywf+/b6weNIp/tt4F9fGCdoQHwn8YGh9iY9W/zhUx07BMQB0h/WSxYLG9/qJi5QAvA7JpG39dizWvnOht1l4kZhouTjiGPGurBf0g5r5sIQL6uFz+zn9MFfMlbnZHUZ/QRCTX5tH/Fz8/7/m9DMmgeIefPFLiCU5sUDcf+9wVm4O/fzVfuJo8P/9T3AMAJJJ1stuiht6vjtGEqkuyaQYbP89om0nxzxWvBvr2zD6cbGX9IOa+Kjki+rBBORa/TBXzJXKvZnTxpjcKdoPb0n/GDcK+hvXnXgH8v/1y7Uw+kuNWL4KvTuhLg0dY1ObThrBMQBYLykWA863EwLOOiaTduS068KEx4xB8i85fd2iH8zZWzkXhef7fx/vrhh8W1X8c3y8JSYtY3LyrzHO8Yv6Ya6YK5V6vSD5M87v77gWDH65cKogWZR3N9PW/jH3D/3dEcExAEgmWS+7lUSKAeHvAwHqD6G3p8KR8OheCHVLJsULh3sj2hQvGtZMcex4ATJqo9P4jfAq/WBOnh9xcXlkzLkSN9Y/GNLfgrVbP8wVc6USL4TRd6nGcmCCY64f+PmX++v/i/1jfR16bwy916/3QX/tiXv3nQm9x94H91mKG5UPvpAj3s28XHAMAN1jveyuhf0U4tvA3hmRWPgy1DOZtCrkP473wQzqOJRz/G/1gzmIF2y/h0fvoNg4xTE3h7RHW3/WD3PFXKlkbbuV06YrYfI3cy58sbBryjYeH2rTXsExAHST9bK74je0RXscPBnqmUw6n9OeeJEwi1cTx4uYvDcGvakfVOzzoc/u+BQXloPi74GUR4DW64e5Yq6U6uuC9kyzOfjCo237pjjGs+HRR98ExwDQUdZLivwa6pVMeq2gPQdnWNfhkL9J6xP6QUU2DX1uh2Z8/PcT1oM9+mGumCul2VbQlq+nPP5CMumdKY5xeahNTwuOAaC7rJcU+SbUJ5kU79TJ2yg87vewZob1rS3o+7GO94PqnB34vI6WcPy4WfGdgnlyXD/MFXOlNL8UtGXjlMdf2JvvrQl//r2h9nwuOAaAbrNeMk5AP+9k0ocFbflfCXVeCPlJnw0d7gfV2DDwWX1XYj0nC+blKf0wV8yVUrxc0I6zM6hjYVPv1yf42fjI+2DirfV3tAqOAcB6yfTqkkx6LORvTBrL/hLqfTvM9pvrtvSD6nwaHr6Br8wLuL0Fc+S0fpgr5spc1tkXpzz+4wPHmmQD7q8qWKMExwBgvRzbG6GZmwC/GiZ7RW/T1CWZ9HrCfF1TQr3rC+qMb8h5soP9oBpxs+E/+5/RtpLr2h7Ku0ujLf0wV8yVWXssPHzT2mLl+gzqeGHgeFvH/Nnnh9pzWXAMANRhvRy8W6JJCaVXB4K/j1o+R+qSTPqhoB3XSqz794K6D3SwH1Rj4WL3TAV1bS2YH5/oh7lirpQST+S14fAM6tg9cLylY/xcTOxdGWrPs4JjAGDe6+W7oZmvKY+B398duTiJ6pBMeiphrp4ssf5TBXVf7Vg/qM7yrOzMyuoaXFjv1A9zxVyZuY9CuY+4RUfDZF9WDG+6/aXgWDIJAOa9XuZtQFznhNKO8GgiaaF82tI5Uodk0tsJc3VfifW/mVD/sx3qB+2U98hPvBNzpX5grszc6Zw23A+9u4Om9XP/eCfG+JnV/fV9oS1xA+5VgmPJJACY53qZckFbx4RSXiJpobzTwjlSh2TSuYQ583yJ9b+UUP+hDvWDdsrbjPiMfmCulOK7UO6bPVcOHG/HGD83fCfre4JjySQAmPd6GQObS6FZCaWURFIM+h5v4RyZdzIpfit7v6ANf4fZfHs7ytKE+fpzR/pBe32RMy+e0Q/MlVL8Gcp9y+Yb4eFdTqn7Jb041I5fBceSSQBQl/UyJpQuh2YklHYktLOtiaRo3smk5xLG/2YF43AnFCeClnegH7TXbyVe0OqHuaIfi7ub8/t47wyOv/DSh9T9juIXGr+G2e/bJDgGAOvlzDQhoZSSSPo+K8taPEfmnUx6K+EzOFfBOJxPaMerHegH7bQljN6Ufbl+YK6U5nbO7+IdUx5748Cxnkv8mf8OteGU4FgyCQDquF7GzRzrmlDamdCuCx24QJl3MulUmO8b0BZ8Fabbb6gt/aCdFpuft7KyTj8wV0qVt2fStimPfaJ/nEuJ/35NVu4N1P9X//8JjoNkEgDUcb2sY0IpJZEUbx3vwjfd804m/ZTwWRysYBwOJ7TjbAf6QftsGXFRvVk/MFdKl/dFw9YpjrspjJ+U+mao/g8Ex5JJAFD39bJOCaVdCe34MXTnkYl5J5PuJ3weeyoYh70J7bjRgX7QLvH32PC+MfExn/X6gblSiTdCOcmk78PDL75SvDJUdxyjJV2d7JJJANCs9bIOCaXdQSJp2DyTScsSPo+q9vhJuVtt1NvY2tIP2md4D61TDf391pZ+GOPu9WNNzu/i7RMec9/A7/JNCf8+vuXt2lDdLwuOJZMAoEnr5TwTSimJpPio0oqOzZF5JpNeDGlJmG0VjMMriW3Z2OJ+0B7x7ZODj7TENwnu0g/Mlbn4dsTv4fcnONaG8PANcamPTh8M1b8MQnAMANbLmYsJpSuh2oSSRNJo80wmpbxNL5YXKhiHaRJCbekH7fBUVi6GRx9tjPujLNcPzJXK/WfE7+GLE8RPC3cYXUj8mbjh+OBj2PeDDeslkwCgwetllQml1xLqiQHdyo7OkXkmk/YkJj6quBhYkdiWXS3uxyS2JtbXhtKEjcvfCg/vWlis3O5fYC/Vj84zV6p1YkT7diT+fEyY/dr/mev9OCrFuVD9iyAExwBgvSw9ofRbyQmllETSzx1OJM07mfRG4kV8FRcBjye2ZV+L+yGZ1NxkUtx75Zcx+hIvRl/Wj04yV+Yjfpmw2JdoMdlV9Ja5mPz/Mzx8fO+pxDpfXWQMHncKSCYBQBvWyzITSimJpEsdTyTNO5n0aeJFQBWbRS9NbMuhFvdDMqlZyaTHQi+ReXmKPh0P879joy39qDNzpR79WN1P6Ay36V7o3TE0uJddfBRtf+g9gr/w7+IjbmvHWAuGN91+1akgmQQAbVovy0gopTx2FIPRJ0yRuSaTjicG/3U5X2L5osX9kExqRjJpS1Y+C707GmbRrx9D+iMz+tEs5kr95kqs9/sJ2hw3Fx/ny6/hTbe/dTpIJgFAG9fLWSaUJJIkk8pMwhxvcT8kk+qdTIp3ZFwtqW+XQ3V3abalH3VmrtR/rsS7jm4ktnPnmMeOdzU9GDjG31lZ77SQTAKAtq6Xs0go7U0MzHx7LZkkmSSZ1LRk0qn++fhX+PfbmWZVvtGP1jBXmjFXlvR/hx7p/3453y+ns/Lf0LsjaxLfDvXz8BRtjI/mxTfiHhtq49f9477QxBNEMgkA2rdeTpNQ2pfwc1ckkiSTJJMkk0I79kyK4r4oG7LySugl00+GxfdkSS179aO1zJVuzJWdQ/2LG3ZP8ibR+Ja51Mfx4pd0/xEcj78QK4qiKEoZpavJpGj1BAml1xP+/a8SSbVLJh1rSRKmLf2gPeIdDZ+G/FemL1b+CPV621Nb+mGu6EcVloVHH53bM+Yxng2TbXAeH6Xb15SBkkxSFEVRJJPamUxaSChdS0woSSQ1N5l0tIFJmKMt7gftsyIrH/cv9FLXn/f0w1wxVxrp8FC/fhjz5z/KGaO4+fmBrGwKvcfzYnkm9DZGHxzrrZJJkkmKoiiKZFJTEkpF5TeJpNomk95sYBLmYIv7QXs9Pcbv01/1w1wxVxpn41BS5+9+4idFfAzu25zxuZiVJ3N+PiaQ/ur/23hnVO3v9JJMUhRFUSST2p1MWkgoTbMXwm8FARDzTSbtTfwcl1YwDksT27Kvxf2g3eIbLFMfX3laP8wVc6VRhvc3+izx5+KdXD+G6d96N7gOviOZ5EJGURRFkUyqS0Lp9wnG8KpEUu2TSTsTP8tlFYzDssS27GpxP2i/+Dvxj4T58Z5+mCvmSmO8Fh7dB2pFws/FO4gu5IzJrTHjqB8HElCSSYqiKIoimdTIhNL1/s9Q72TStsTPc0MF47AqsS3bWtwPuiHlDXxn9ANzpRHiI2o3h/ryeuLPfl0wJi+N2ZZdAz9b6+0F2hIcA4D1Mk1MDqV8u3gjSCSNY57JpJWJiY+XKxiHlxLbsq7F/aA7zhXMjyv6gbnSCEeG+nEp8ef+WzAen03Qlnin08K+TTsExwDQbG1aL1Pe2jbut3LMN5kUQtobd7ZXMA7bE9oR27qk5f2gG54vmCP39QNzpfY2LbL2bE74uWcLxiJ+cbd8wjZdDQ/ftis4BoAGa8t6uS+M/6ighFKaeSeTriR8lrsrGIddCe34vQP9oDuKXm6wRD8wV2pteOPs4wk/syRhvXpjijYt3AH2heAYAJqtDetl6puyJJQmM+9k0umEz/GtCsbhjYR2fN2BftAdX4b5v31QP4yxfswmNrodem+vK/JOKH55yTRJtYWY4nidB08yCQDav17uCdNvZi6hlBb4zSuZdDDhM6wiKD2e0I6POtAPuqPo9+tS/cBcqaW4T9+toba/nfBzj4VHN+ue9ZcekkkA0BJNXi9TEknxlvWUt7xJKBUHfvNKJqXs8XO6BuNQtOdRW/pBdxS9hXCJfmCu1NIXQ+2+nPhzRXtPxrubpk2onQ8ecwOAVmjqepmaSFrdL9eDhFJZyYeyk0nLEz67SxWMw8+heNPqZR3oB92xJrRjM+K29MMY60eKZxZp+3OJP3uhYH34dAbt+6V/rHcExwDQbE1cL18L6YmkBfHP14KE0iTmnUwaDD7nGeTfD9MngtrSj3FsDdM/itqUcrZl535eAvSKfmCu1NKloXZ/lfhzKxN+x22eQfsW1qDddR5EySQAaN96mZJIuhb+nUhaIKE0mTokkz5N+NzWlVj/uoT6D3eoH5JJ3UgmLQvzfSRTP4yxfoxn+AULf42IhxZT9KbPqzNo3xMDx9sqOAYAyaSq7E5o79WCwCn+3W8SSo1LJr2Y8JntLLH+XQn1P9ehfkgmdSOZlPfIz3v6gblSK/HOoj+H2vzBGD//eSj/i4YdoSGbmUsmAUB71stZJJIklJqbTFqySJA8XI6UWP9nBXXf7Fg/xiGZ1Fyv5PT1P/qBuVIrw5tu/xrG2zC8aK2fxZ1Eh/vH+k1wDADN14T1MuVuiphIenKMY0oozS7AvFtRO4q+Nb1QYt0/zTAB1JZ+pJJMaq69I/p5Qz8wV2pl8wySPxdzfrc9CLN5k93Cfk7HBccA0Hx1Xy93JrQxJoWenODYq4KEUoq6JJM2h+K3kJVx2/zy/rHz6t7UwX6kkkxqrq9G9PNj/cBcqZXhTbfPTHCM2zm/236YQRsH9+x7VXAMAM1X5/WyzETSAgmlYnVJJi0WMA+XHSXUWfSI5Q8d7kcKyaTm+iMsnuxcqx+YK7Wxf6i997Ly1ATHuZvzu+3kDNp5sH+sO2E2dzl1NjgGAOtlvioSSQsklPLVKZm0r6AtJ+fQ/50d7gftNSoJeFw/MFdqI8Yvw3cUHZjwWL/nrA/vT9nOx0JvT754rM8FxwDQDnVcL3eEtETSqhkHZBJKkyUhqkwmxW8zb+S0JX4jO8tHxOJrjB8UzMMu94P2+n7Eub5aPzBXauPEUHuvTbF2nMtZI16bsp1vDxxro+AYANqhbuvlPBJJCySUFlenZFK0v6A9+2dY1/sFdb2mH7TQthHz5G39GFt81fzR0Lvr437ovc3xWOjtH2Ou6Mc0nlukvdPsRXQslPPo9bLw8K6kM02ZEJJJANCs9TIGK0UbBMdX3a4qsQ0SSo86F+qVTIp39VwO5d9l81jIv+3/on5QoRdC77Xa8YJvbz9JUYaVI+bLef0Y2/Nh9KbG8ffmVnPFXJli/bgy4/bm7au3fYrjfhwe7j21XnAMAO1Rl/WyDomkBasWCdK6nFAqSq7dnUObNhfMl1l8Nnl388RHxjbpBxWIycCvw+KbAp8t4fM7v0hd10PvUUn9SBcfjbqd8LtznbnS+bkyifcW+V0+baJmRRj9OPSuCY/57MAxDguOAaBd6rBevhqKE0lXQjWJpAUSSj3LEj6b+PfzeDPLuzltujXlhcDqkP9mm3f1g4ocSDj/Pgmz2WPr5CLHvzmjhEdb+pHqaEh7A+BJc6Xzc2UWv9c/mtGxT44Y80kSQfGOr+v9n7+alccFxwDQLvNeL1MSSb+EahNJC1b16+5yQumNxAuil+bUvhM5bTo34TFjYuz7nON+qR9U6NfEczD+uxcnrGNFWPxx1ngBuFY/JnIzsb/3zJXOz5VxnRpq840ZJmo2jIjJxn3sOib6/tf/2bhX2GbBMQC0zzzXy/gM/oNQz0TSglj35dDNhNLy0HszTEpQ/90c23kmp13HJjje6Zzjfa0fVOx24jk4mHzcMsbxd4fF3ywY58hK/ZjYgzH6utQYd3qujOPFMLtH0EY5HKZ7UUO8o/n/mh4fSSYBQH3Xy1cakEjqckLpyaxcGDOgj491LJlTez8vSJysTOzztwX90w+qdnbM83ChXMrKB1l5eShZEf8c31x1KCyeLL4Zynm7X1v6MeuEyCwfEzZXmjlXUsV5MnzX1oUS6ol7Vl1cZJzinC7aryr+/eAWAQcExwAgmVR1IulyTRJJ4yaU9jZ4LsRExfZ+suGvCYP5uD/CwUWC+SrEi4E7I9oVX8f9YVaeWuTn1vXbPOpn494Ue/SDOdk24bk4bon7c/039O4q0I/pnQjV39VprjRzrqT6IDyaiCzrBQqj3mwbE0pvhkcToHGj7WPh34/IHWjyL17JJACo53q5qR/ENSWRlJpQiq8WXtOgzz6+tvqPfnB4v6Rg/X7/+LGeXRX0KW5MejIUv0Hp+365W/BvT8/pM21LP5iNA6G8C+o4f/aF3t0I+jE78c1a90LxXUmbjXHn50rqmjD8Jc+RCmKeCzlr+w9Z+XmReR6/0NgpOAYAyaSyjEoo1TWRVJRQirfJP9Wwz35rqObb33nctbUxK18kJFlGbYgbv2F9ugafUVv6wfTi3RqXZnAexrkUH5mMm+s/qR+l9/WvnPNzpzE2VxIN74EXv6BZUVHd74f0xzbjlyCrBccAIJlU9nq5YSihFJM0KxswZk8MBbhNTCR1RbwVPz5y93Ho7cNxtX9xd79f4p+v9f/ucP/fLtEPaiwmGPf3L9riJrd/Ds2FhfkQLzbP9S9CD/UTF+v1o3Lx8dNj/bXufv+/xyvqg7nSrLkyytahvsZS9SP18W1x+/pjG+/CvtdvR0zUnQ+9R/DWhhaRTAKA+q+XCwmlpiSSFiwklG72LxYAABAcA4D1sqI2xG8OVzZw7FaGdnzrCQBAjYJjALBeAgCA4BgArJcAACA4BgDrpfUSAADBseAYAKyXAAAgOAYA6yUAAAiOAcB6CQAAgmMAsF4CAIDgGACslwAAIDgGAOul9RIAAMGx4BgArJcAACA4BgDrJQAACI4BwHoJAACCYwCwXgIAgOAYAKyXAAAgOAYA6yUAAAiOAQDrJQAACI4BwHoJAACCYxiwKSvvZOVUVn7Oyp2s3M/Kg6zcy8qtrJzNyidZ2ZqVJYYs2WNZ2d4fuziG17Py19D4/pGVb7JyNCs7srLUsGG9BAAAwTHUzYqsfJCV3xLm93D5MysfZ2W1YRwpJuiOh17SaNzxjUmmk1l5xjBivQQAAMEx1EFMIt3Jmc/x774LvbuU8pIh8a6aA8GdSoPWZOV0GD+BNKqcyMoThhXrJQAACI5hHjZk5fKIORwftXo/K08u8nPxDpkjYXRi6VJW1hne//+I2p0wu0TSQrmRlS2GF+slAAAIjqFK27Jyd8T8PZeVlQnHiAmjiyOOcTsrL3R4fD8Ms08iDZb42T1nGmO9BAAAwTFUYXdW/h4xd0+OeazHs/JtGP3Y20sdHN+PQrmJpMGE3VrTGeslAAAIjqFMO3Lm7YUJj7k8K7+E0XfQdOmRrLdGjENM3p3v/328o2jwDW3xzxtDL8kXk3l/hfSE0kVTGuslAAAIjqEsMYlxb8ScjQmMNVMcOyZDHow49s2srOrA+D4fFk8iHRlzbJdl5WBIf/PbblMb6yUAAAiOYdZiMuePnDn7wQzqOJRz/G9bPr7x7qzfw6N3DW2c4pibCz6zhfKz6Y31EgAABMcwa+dz5mtMWDw+gzpiQiXv7WVvtnh8Px/q6/GsLJnBcTeFtMfe1pviWC8BAEBwDLPyWsF8PTjDug6H/A2jn2jh+G4a6uehGR///YTfOXtMc6yXAAAgOIZZiHcc3ciZq3FPnzUzrG9twblxrIVjfHagf0dLOH7coPtOwbgeN9WxXgIAgOAYZuHDgrn6vxLqvBDyk1cbWjS+Gwb69l2J9Zws+BxPmepYLwEAQHAM03osK7cK5ur+Eup9O3TnLppPw8M31pX5CN/egjE9bbpjvQQAAMExTOv1hLm6poR61xfU+SArT7ZgfOMG23/2+7St5Lq2B3cmYb0EAADBMZTsh4J5eq3Eun8vqPtAC8Z3IcFzpoK6thaM5yemO9ZLAAAQHMM0nkqYpydLrP9UQd1XWzDGy7OyMyurK6irKJm005THegkAAIJjmMbbCfN0X4n1v5lQ/7M+pmR5j7nFxwZXGiKslwAAIDiGaZxLmKfPl1j/Swn1H/IxJcvbgPuM4cF6CQAAgmOYRtwY+n7BHP27/+/KsjThPPnZR5Xsi5xxfMbwYL0EAADBMUzjuYQ5erOCdtwJxQmt5T6uJL+NGMPjhgbrJQAACI5hWm8lzNFzFbTjfEI7XvVxFdoSRm9iLhmH9RIAAATHMLVTYb5vclvwVbBvUlmf562srDM0WC8BAEBwDLPwU8IcPVhBOw4ntOOsjyvXYnclxUTSZkOD9RIAAATHMCv3E+bongrasTehHTd8XCPFR9iG90qKj7atNzRYLwEAQHAMs7IsYX5WtVfRzoR2lP1WuSYb3nMqPu5mjySslwAAIDiGmXoxpCWTtlXQllcS27LRx/Yvj2flm/DvN+/tMixYLwEAQHAMZdgR0hI4L1TQljoltpriqaxcDI8+CvhBcFcS1ksAABAcQwn2hLQEThWJiRWJbXHXTc9bWbmbM063Qy+ptNRQYb0EAADBMczKGyEtgVNFQuLxxLbs6/hntj0rvySOVSzXs/KyqY71EgAABMcwC5+GtIREFZteL01sy6EOfk6PhV7i73JITyINl+PBXUpYLwEAQHAMUzoe0hIRdTlXYvmiQ5/Plqx8FnqPrP0zg/JjVlaZ9lgvAQBAcAyTamIy6XgHPpd4F9LVMJsE0nCJdzetNPWxXgIAgOAYJiGZVE+nQm9z7b+ycj/MPqH0jamP9RIAAATHMAnJpOaI+x1tyMorWdmblZOht7n2pAmlvaY/1ksAABAcw7iOBcmkpov7KsWN1O+G8ZJJf4TeG/TAegkAAIJjSHY0NC+ZdNTHtqgVWfk4K3+H9ITSe4YN6yUAAAiOYRxvhuYlkw762HI9nZVriWP5q+HCegkAAIJjGMfekJZ0WFpBW5YmtmWfj63QE6H31raU8XzacGG9BAAAwTGk2hnSEg7LKmjLssS27PKxJXky9PZF8qgb1ksAABAcw8xsC2kJnA0VtGVVYlu2+diSbU0YzzOGCeslAAAIjiHVypCWwHm5gra8lNiWdT62sZwrGM8rhgjrJQAACI5hHClv/9peQTu2J7QjtnWJj2wszxeM6X1DhPUSAAAExzCOKwlzdHcF7diV0I7ffVwTuV4wrhJ0WC8BAEBwDMlOJ8zRtypoxxsJ7fjaxzWRL8P839YH1ksAABAc0xIHE+bo8QracTyhHR/5uCayJ0gmYb0EAADBMcxIyl5Fpytox9lQj72b2qjorX0ec8N6CQAAgmNItjxhjl6qoB0/h+LNt5f5uCayJtiAG+slAAAIjmGGfgnzf+PX/TD/hFZb5SUMrxgerJcAACA4hnF9mjBP15VY/7qE+g/7mCa2LMz3EUawXgIAgOCYlnkxYZ7uLLH+XQn1P+djmljeY27vGR6slwAAIDiGccUNmP8smKdHSqz/s4K6b/qIpvJKztj+x/BgvQQAAMExTOLzgnl6ocS6fwrzS2R1wd4R43rD0GC9BAAAwTFManMofpva0hLqXd4/dl7dm3w8U/lqxLh+bGiwXgIAgOAYpnGpYK7uKKHO3QV1/uBjmdofYfHk4FpDg/USAAAExzCNfQVz9WQJdZ4N89v4uwu2jhjX44YG6yUAAAiOYVpxI+4bOXP1Xpjto25PZOVBTn2/+Uim9v0i43o3K6sNDdZLAAAQHMMs7C+Yr/tnWNf7BXW9VnJf12TlaFZ+z8r90Huj3bGsrGvJZ7ltxLi+bZpjvQQAAMExzEq8O+lyKP9uocdCL4kzqp6LJffz+azcHlF3vHNna0n1vpCVw6GXtIpvWVtTUj0rR4zveVMc6yUAAAiOYdbim93y3rD2+gzqyLsrKT76VuYb3OIjXrcLzsuYUJrlHUoxefZ1WHwj7LMl9Pf8InVdD71HC8F6CQAAgmOYuXdz5uytMF1SIiZz7uYc/92S+3Y04byc9YbjBwrqikmlT8Js9qQ6ucjxb4b2PL6H9RIAAATHUFMncubtuQmPGR+j+z7nuF9W0K+bIS2ZdG+Gdf6aWGf8dy9OWMeK/ucyfMyrWVlrOmO9BAAAwTFU4UzO3D02wfFO5xzv64r69CCkJXZimdXb626PUedCsm7LGMffHRZ/E18c05WmMdZLAAAQHEOVPg/5CaCUZMWTWfk25zhHK+xPamInPnq2ZEZ1ng3jJZMWyqWsfJCVl8O/E1vxz/FtbYeyci0s/ljba6Yu1ksAABAcw7zExMSdEXP4z6x8mJWnFvm5uE/PwZyfjXsn7am4LydCWiLnuxnWuS1Mlkwat8T9rP6blWWmLNZLAAAQHMO8xY2zT4bit6B93y93C/5tfORtzRz6sT709kMquitp84zrPRDKSyLF8d4Xem+NA+slAAAIjqFWNmbli1CcLBq1qXXca+npOfch3in0V04bd5ZY76UwffIojn18xPCN0HuEEKyXAAAgOIbai/sJxb18Pg69PYHiW8NiguZ+v8Q/X+v/3eH+v11So/bHR/BiYutWv73xv8dD786lssWE3P7Qu9Pr/0LvUcHBsVsYvz9CbzPueBdX3B9pZ0XtA+slAAAIjgHAegkAAIJjALBeAgCA4BgArJfWSwAABMeCYwCwXgIAgOAYAKyXAAAgOAYA6yUAAAiOAcB6CQAAgmMAsF4CAIDgGACslwAAIDgWHAOA9RIAAATHAGC9BAAAwTEAWC8BAEBwDADWSwAAEBwDgPUSAAAExwBgvQQAAMExAFgvrZcAACA4BgDrJQAACI4BwHoJAACCYwCwXgIAgOAYAKyXAABQG/8PBlDXURyMxhIAAAF/dEVYdE1hdGhNTAA8bWF0aCB4bWxucz0iaHR0cDovL3d3dy53My5vcmcvMTk5OC9NYXRoL01hdGhNTCI+PG1zdHlsZSBtYXRoc2l6ZT0iMTZweCI+PG1mZW5jZWQgY2xvc2U9InwiIG9wZW49InwiPjxtZnJhYz48bXJvdz48bW4+MDwvbW4+PG1vPi48L21vPjxtbj4zPC9tbj48bW8+LTwvbW8+PG1uPjA8L21uPjxtbz4uPC9tbz48bW4+MjwvbW4+PC9tcm93Pjxtcm93Pjxtbj4wPC9tbj48bW8+LjwvbW8+PG1uPjM8L21uPjwvbXJvdz48L21mcmFjPjwvbWZlbmNlZD48bW8+JiN4RDc7PC9tbz48bW4+MTAwPC9tbj48bW8+PTwvbW8+PG1uPjMzPC9tbj48bW8+LjwvbW8+PG1uPjMzPC9tbj48bW8+JTwvbW8+PG1zcGFjZSBsaW5lYnJlYWs9Im5ld2xpbmUiLz48L21zdHlsZT48L21hdGg+lVDWigAAAABJRU5ErkJggg==\&quot;,\&quot;slideId\&quot;:268,\&quot;accessibleText\&quot;:\&quot;open vertical bar fraction numerator 0.3 minus 0.2 over denominator 0.3 end fraction close vertical bar cross times 100 equals 33.33 percent sign\\n\&quot;,\&quot;imageHeight\&quot;:42.2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222</TotalTime>
  <Words>953</Words>
  <Application>Microsoft Macintosh PowerPoint</Application>
  <PresentationFormat>Widescreen</PresentationFormat>
  <Paragraphs>130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Tw Cen MT</vt:lpstr>
      <vt:lpstr>Tw Cen MT Condensed</vt:lpstr>
      <vt:lpstr>Wingdings</vt:lpstr>
      <vt:lpstr>Wingdings 3</vt:lpstr>
      <vt:lpstr>Integral</vt:lpstr>
      <vt:lpstr>System modeling&amp;simulation</vt:lpstr>
      <vt:lpstr>Grading </vt:lpstr>
      <vt:lpstr>What is simulation?</vt:lpstr>
      <vt:lpstr>Why simulation?</vt:lpstr>
      <vt:lpstr>Why simulation?</vt:lpstr>
      <vt:lpstr>Why simulation?</vt:lpstr>
      <vt:lpstr>Real-World Example: Crash Simulation</vt:lpstr>
      <vt:lpstr>The Simulation Solution</vt:lpstr>
      <vt:lpstr>How It Helps</vt:lpstr>
      <vt:lpstr>Problem 1</vt:lpstr>
      <vt:lpstr>Solution-1</vt:lpstr>
      <vt:lpstr>Solution-1</vt:lpstr>
      <vt:lpstr>Solution-2</vt:lpstr>
      <vt:lpstr>Solution-2</vt:lpstr>
      <vt:lpstr>Let’s try a Fair coin simulation program 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hossam mohamed hisham mohamed</dc:creator>
  <cp:lastModifiedBy>hossam mohamed hisham mohamed</cp:lastModifiedBy>
  <cp:revision>11</cp:revision>
  <dcterms:created xsi:type="dcterms:W3CDTF">2026-02-07T21:21:32Z</dcterms:created>
  <dcterms:modified xsi:type="dcterms:W3CDTF">2026-02-09T19:35:16Z</dcterms:modified>
</cp:coreProperties>
</file>